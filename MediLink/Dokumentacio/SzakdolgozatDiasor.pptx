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91" r:id="rId4"/>
    <p:sldId id="294" r:id="rId5"/>
    <p:sldId id="293" r:id="rId6"/>
    <p:sldId id="292" r:id="rId7"/>
    <p:sldId id="297" r:id="rId8"/>
    <p:sldId id="301" r:id="rId9"/>
    <p:sldId id="302" r:id="rId10"/>
    <p:sldId id="304" r:id="rId11"/>
    <p:sldId id="305" r:id="rId12"/>
    <p:sldId id="306" r:id="rId13"/>
    <p:sldId id="307" r:id="rId14"/>
    <p:sldId id="300" r:id="rId15"/>
    <p:sldId id="299" r:id="rId16"/>
  </p:sldIdLst>
  <p:sldSz cx="9144000" cy="5143500" type="screen16x9"/>
  <p:notesSz cx="6858000" cy="9144000"/>
  <p:embeddedFontLst>
    <p:embeddedFont>
      <p:font typeface="Albert Sans" panose="020B0604020202020204" charset="-18"/>
      <p:regular r:id="rId18"/>
      <p:bold r:id="rId19"/>
      <p:italic r:id="rId20"/>
      <p:boldItalic r:id="rId21"/>
    </p:embeddedFont>
    <p:embeddedFont>
      <p:font typeface="Sans Serif Collection" panose="020B0502040504020204" pitchFamily="34" charset="0"/>
      <p:regular r:id="rId22"/>
    </p:embeddedFont>
    <p:embeddedFont>
      <p:font typeface="Segoe UI Variable Display Semib" pitchFamily="2" charset="0"/>
      <p:bold r:id="rId23"/>
    </p:embeddedFont>
    <p:embeddedFont>
      <p:font typeface="Syne" panose="020B0604020202020204" charset="-18"/>
      <p:regular r:id="rId24"/>
      <p:bold r:id="rId25"/>
    </p:embeddedFont>
    <p:embeddedFont>
      <p:font typeface="Syne SemiBold" panose="020B0604020202020204" charset="-18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19002-FB83-47A1-B3A9-A7044E31A0DD}">
  <a:tblStyle styleId="{DB719002-FB83-47A1-B3A9-A7044E31A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6C9C8C-CBAA-4384-825D-8E649F09310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EA26E7FE-C61D-0B68-1D69-B9117AB5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E2A56B18-427E-FEB8-A7DC-83A6C7591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B0DE929D-1EE2-5EA4-5D01-CA95681F3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720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4B130AE-F30B-D448-D049-E778582C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09F92C46-AB2C-70BB-0326-001FCCFAA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F4CC0456-0D94-A106-AFF0-D4399E1F5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09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9DBA050-2BCD-D071-7313-78554F80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8C3FD194-BC4D-F835-F6D5-103C3D456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64DD7B31-E6EF-358D-1AE9-BFC03663F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283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5B95F69-3782-796E-2467-8A5D2CDF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53DDE752-4630-869E-5E67-69744631B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4A92FF47-0B4C-79A8-058A-D47C5BB9C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9689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82C5ECC-D71F-02DC-F031-293A449D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6C7DFCBD-95AB-DDCC-2230-F8D20ABDE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E040011E-5D0F-886A-54A3-FCD6F24DA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47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CE54E07-5E26-C035-CAAB-3A27774F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E0CFC164-B384-AD20-C497-BEAA790CC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C262E907-1AAD-88AE-A95D-F89FBF786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735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4F8E540-DC91-9399-7ECD-47C40F6F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DC863677-E011-8513-8AD4-3AD6CC3D8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D0D3A39F-7254-72E8-F3C1-70F3189DB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445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14F493B-924B-48BE-C457-F26E46B0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1B007424-716D-78C8-1EC6-9F759D0D5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8F7FAB18-4923-1903-57FF-6D4FAC62B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237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AADFF7D8-9E44-0C61-649D-CC070749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D2745AB3-5AA9-6BD0-3D30-ED5194AEA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59991026-A425-C25F-3AEF-E3552A23F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336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AADFF7D8-9E44-0C61-649D-CC070749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D2745AB3-5AA9-6BD0-3D30-ED5194AEA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59991026-A425-C25F-3AEF-E3552A23F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118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2FAF917-0E52-53A1-0B46-C281A086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431007ba2_0_208:notes">
            <a:extLst>
              <a:ext uri="{FF2B5EF4-FFF2-40B4-BE49-F238E27FC236}">
                <a16:creationId xmlns:a16="http://schemas.microsoft.com/office/drawing/2014/main" id="{D764A184-AD4A-9757-DF5E-E4242725D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133" name="Google Shape;133;gd431007ba2_0_208:notes">
            <a:extLst>
              <a:ext uri="{FF2B5EF4-FFF2-40B4-BE49-F238E27FC236}">
                <a16:creationId xmlns:a16="http://schemas.microsoft.com/office/drawing/2014/main" id="{29A06864-D08C-E73B-440C-D671C761B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30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t="31124" r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3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.xml"/><Relationship Id="rId7" Type="http://schemas.openxmlformats.org/officeDocument/2006/relationships/hyperlink" Target="https://goqii.com/blog/goqii-doctor-consultation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0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11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subTitle" idx="1"/>
          </p:nvPr>
        </p:nvSpPr>
        <p:spPr>
          <a:xfrm>
            <a:off x="306325" y="3828636"/>
            <a:ext cx="3510602" cy="8126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Programtervező Informatikus BSc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Nyirő Teofil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Konzulens: Süle Péter</a:t>
            </a:r>
            <a:endParaRPr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8" name="Google Shape;128;p28"/>
          <p:cNvSpPr txBox="1">
            <a:spLocks noGrp="1"/>
          </p:cNvSpPr>
          <p:nvPr>
            <p:ph type="ctrTitle"/>
          </p:nvPr>
        </p:nvSpPr>
        <p:spPr>
          <a:xfrm>
            <a:off x="306325" y="1015243"/>
            <a:ext cx="7613306" cy="19634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hu-HU" sz="4000" dirty="0">
                <a:latin typeface="Segoe UI Variable Display Semib" pitchFamily="2" charset="0"/>
              </a:rPr>
              <a:t>Járóbeteg páciens kapcsolattartást és ellátást támogató alkalmazás C# nyelven</a:t>
            </a:r>
            <a:endParaRPr sz="4000" dirty="0">
              <a:latin typeface="Segoe UI Variable Display Semib" pitchFamily="2" charset="0"/>
            </a:endParaRPr>
          </a:p>
        </p:txBody>
      </p:sp>
      <p:cxnSp>
        <p:nvCxnSpPr>
          <p:cNvPr id="130" name="Google Shape;130;p28"/>
          <p:cNvCxnSpPr/>
          <p:nvPr/>
        </p:nvCxnSpPr>
        <p:spPr>
          <a:xfrm>
            <a:off x="306325" y="4848691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24"/>
    </mc:Choice>
    <mc:Fallback>
      <p:transition spd="slow" advTm="1902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egoe UI Variable Display Semib" pitchFamily="2" charset="0"/>
                <a:ea typeface="Syne SemiBold"/>
                <a:cs typeface="Syne SemiBold"/>
                <a:sym typeface="Syne SemiBold"/>
              </a:rPr>
              <a:t>Problémafelvetés</a:t>
            </a:r>
            <a:endParaRPr b="0" dirty="0">
              <a:latin typeface="Segoe UI Variable Display Semib" pitchFamily="2" charset="0"/>
              <a:ea typeface="Syne SemiBold"/>
              <a:cs typeface="Syne SemiBold"/>
              <a:sym typeface="Syne SemiBold"/>
            </a:endParaRPr>
          </a:p>
        </p:txBody>
      </p:sp>
      <p:grpSp>
        <p:nvGrpSpPr>
          <p:cNvPr id="21" name="Google Shape;2500;p56">
            <a:extLst>
              <a:ext uri="{FF2B5EF4-FFF2-40B4-BE49-F238E27FC236}">
                <a16:creationId xmlns:a16="http://schemas.microsoft.com/office/drawing/2014/main" id="{4623DA30-3256-5330-B836-52074510F1F7}"/>
              </a:ext>
            </a:extLst>
          </p:cNvPr>
          <p:cNvGrpSpPr/>
          <p:nvPr/>
        </p:nvGrpSpPr>
        <p:grpSpPr>
          <a:xfrm>
            <a:off x="1380704" y="2332562"/>
            <a:ext cx="424547" cy="702567"/>
            <a:chOff x="5829984" y="3350032"/>
            <a:chExt cx="220755" cy="352348"/>
          </a:xfrm>
        </p:grpSpPr>
        <p:sp>
          <p:nvSpPr>
            <p:cNvPr id="22" name="Google Shape;2501;p56">
              <a:extLst>
                <a:ext uri="{FF2B5EF4-FFF2-40B4-BE49-F238E27FC236}">
                  <a16:creationId xmlns:a16="http://schemas.microsoft.com/office/drawing/2014/main" id="{D14E7A44-169C-3E2C-B2B1-0C94915200DF}"/>
                </a:ext>
              </a:extLst>
            </p:cNvPr>
            <p:cNvSpPr/>
            <p:nvPr/>
          </p:nvSpPr>
          <p:spPr>
            <a:xfrm>
              <a:off x="5829984" y="3350032"/>
              <a:ext cx="220755" cy="352348"/>
            </a:xfrm>
            <a:custGeom>
              <a:avLst/>
              <a:gdLst/>
              <a:ahLst/>
              <a:cxnLst/>
              <a:rect l="l" t="t" r="r" b="b"/>
              <a:pathLst>
                <a:path w="6930" h="11061" extrusionOk="0">
                  <a:moveTo>
                    <a:pt x="1989" y="333"/>
                  </a:moveTo>
                  <a:lnTo>
                    <a:pt x="1989" y="2060"/>
                  </a:lnTo>
                  <a:lnTo>
                    <a:pt x="1072" y="2060"/>
                  </a:lnTo>
                  <a:lnTo>
                    <a:pt x="1072" y="333"/>
                  </a:lnTo>
                  <a:close/>
                  <a:moveTo>
                    <a:pt x="3299" y="333"/>
                  </a:moveTo>
                  <a:lnTo>
                    <a:pt x="3299" y="2060"/>
                  </a:lnTo>
                  <a:lnTo>
                    <a:pt x="2322" y="2060"/>
                  </a:lnTo>
                  <a:lnTo>
                    <a:pt x="2322" y="333"/>
                  </a:lnTo>
                  <a:close/>
                  <a:moveTo>
                    <a:pt x="4608" y="333"/>
                  </a:moveTo>
                  <a:lnTo>
                    <a:pt x="4608" y="2060"/>
                  </a:lnTo>
                  <a:lnTo>
                    <a:pt x="3632" y="2060"/>
                  </a:lnTo>
                  <a:lnTo>
                    <a:pt x="3632" y="333"/>
                  </a:lnTo>
                  <a:close/>
                  <a:moveTo>
                    <a:pt x="5108" y="2381"/>
                  </a:moveTo>
                  <a:lnTo>
                    <a:pt x="5108" y="2774"/>
                  </a:lnTo>
                  <a:lnTo>
                    <a:pt x="1810" y="2774"/>
                  </a:lnTo>
                  <a:lnTo>
                    <a:pt x="1810" y="2381"/>
                  </a:lnTo>
                  <a:close/>
                  <a:moveTo>
                    <a:pt x="6085" y="3084"/>
                  </a:moveTo>
                  <a:cubicBezTo>
                    <a:pt x="6370" y="3084"/>
                    <a:pt x="6609" y="3322"/>
                    <a:pt x="6609" y="3608"/>
                  </a:cubicBezTo>
                  <a:lnTo>
                    <a:pt x="6609" y="10216"/>
                  </a:lnTo>
                  <a:cubicBezTo>
                    <a:pt x="6609" y="10489"/>
                    <a:pt x="6370" y="10728"/>
                    <a:pt x="6085" y="10728"/>
                  </a:cubicBezTo>
                  <a:lnTo>
                    <a:pt x="846" y="10728"/>
                  </a:lnTo>
                  <a:cubicBezTo>
                    <a:pt x="560" y="10728"/>
                    <a:pt x="322" y="10489"/>
                    <a:pt x="322" y="10216"/>
                  </a:cubicBezTo>
                  <a:lnTo>
                    <a:pt x="322" y="3608"/>
                  </a:lnTo>
                  <a:cubicBezTo>
                    <a:pt x="322" y="3322"/>
                    <a:pt x="560" y="3084"/>
                    <a:pt x="846" y="3084"/>
                  </a:cubicBezTo>
                  <a:close/>
                  <a:moveTo>
                    <a:pt x="905" y="0"/>
                  </a:moveTo>
                  <a:cubicBezTo>
                    <a:pt x="822" y="0"/>
                    <a:pt x="739" y="71"/>
                    <a:pt x="739" y="167"/>
                  </a:cubicBezTo>
                  <a:lnTo>
                    <a:pt x="739" y="2215"/>
                  </a:lnTo>
                  <a:cubicBezTo>
                    <a:pt x="739" y="2310"/>
                    <a:pt x="822" y="2381"/>
                    <a:pt x="905" y="2381"/>
                  </a:cubicBezTo>
                  <a:lnTo>
                    <a:pt x="1501" y="2381"/>
                  </a:lnTo>
                  <a:lnTo>
                    <a:pt x="1501" y="2762"/>
                  </a:lnTo>
                  <a:lnTo>
                    <a:pt x="846" y="2762"/>
                  </a:lnTo>
                  <a:cubicBezTo>
                    <a:pt x="382" y="2762"/>
                    <a:pt x="1" y="3143"/>
                    <a:pt x="1" y="3620"/>
                  </a:cubicBezTo>
                  <a:lnTo>
                    <a:pt x="1" y="10216"/>
                  </a:lnTo>
                  <a:cubicBezTo>
                    <a:pt x="1" y="10668"/>
                    <a:pt x="370" y="11061"/>
                    <a:pt x="846" y="11061"/>
                  </a:cubicBezTo>
                  <a:lnTo>
                    <a:pt x="6085" y="11061"/>
                  </a:lnTo>
                  <a:cubicBezTo>
                    <a:pt x="6549" y="11061"/>
                    <a:pt x="6930" y="10692"/>
                    <a:pt x="6930" y="10216"/>
                  </a:cubicBezTo>
                  <a:lnTo>
                    <a:pt x="6930" y="3608"/>
                  </a:lnTo>
                  <a:cubicBezTo>
                    <a:pt x="6930" y="3143"/>
                    <a:pt x="6549" y="2774"/>
                    <a:pt x="6085" y="2774"/>
                  </a:cubicBezTo>
                  <a:lnTo>
                    <a:pt x="5430" y="2774"/>
                  </a:lnTo>
                  <a:lnTo>
                    <a:pt x="5430" y="2381"/>
                  </a:lnTo>
                  <a:lnTo>
                    <a:pt x="6025" y="2381"/>
                  </a:lnTo>
                  <a:cubicBezTo>
                    <a:pt x="6108" y="2381"/>
                    <a:pt x="6192" y="2310"/>
                    <a:pt x="6192" y="2215"/>
                  </a:cubicBezTo>
                  <a:lnTo>
                    <a:pt x="6192" y="1191"/>
                  </a:lnTo>
                  <a:cubicBezTo>
                    <a:pt x="6192" y="1095"/>
                    <a:pt x="6108" y="1024"/>
                    <a:pt x="6025" y="1024"/>
                  </a:cubicBezTo>
                  <a:cubicBezTo>
                    <a:pt x="5942" y="1024"/>
                    <a:pt x="5858" y="1095"/>
                    <a:pt x="5858" y="1191"/>
                  </a:cubicBezTo>
                  <a:lnTo>
                    <a:pt x="5858" y="2048"/>
                  </a:lnTo>
                  <a:lnTo>
                    <a:pt x="4942" y="2048"/>
                  </a:lnTo>
                  <a:lnTo>
                    <a:pt x="4942" y="321"/>
                  </a:lnTo>
                  <a:lnTo>
                    <a:pt x="5858" y="321"/>
                  </a:lnTo>
                  <a:lnTo>
                    <a:pt x="5858" y="524"/>
                  </a:lnTo>
                  <a:cubicBezTo>
                    <a:pt x="5858" y="607"/>
                    <a:pt x="5942" y="679"/>
                    <a:pt x="6025" y="679"/>
                  </a:cubicBezTo>
                  <a:cubicBezTo>
                    <a:pt x="6108" y="679"/>
                    <a:pt x="6192" y="607"/>
                    <a:pt x="6192" y="524"/>
                  </a:cubicBezTo>
                  <a:lnTo>
                    <a:pt x="6192" y="167"/>
                  </a:lnTo>
                  <a:cubicBezTo>
                    <a:pt x="6192" y="71"/>
                    <a:pt x="6108" y="0"/>
                    <a:pt x="6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23" name="Google Shape;2502;p56">
              <a:extLst>
                <a:ext uri="{FF2B5EF4-FFF2-40B4-BE49-F238E27FC236}">
                  <a16:creationId xmlns:a16="http://schemas.microsoft.com/office/drawing/2014/main" id="{83BA04B9-A588-FC12-A9A3-E9A20C4916A8}"/>
                </a:ext>
              </a:extLst>
            </p:cNvPr>
            <p:cNvSpPr/>
            <p:nvPr/>
          </p:nvSpPr>
          <p:spPr>
            <a:xfrm>
              <a:off x="5912297" y="3541927"/>
              <a:ext cx="56160" cy="56160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1"/>
                  </a:moveTo>
                  <a:cubicBezTo>
                    <a:pt x="798" y="1"/>
                    <a:pt x="715" y="72"/>
                    <a:pt x="715" y="167"/>
                  </a:cubicBezTo>
                  <a:lnTo>
                    <a:pt x="715" y="715"/>
                  </a:lnTo>
                  <a:lnTo>
                    <a:pt x="167" y="715"/>
                  </a:lnTo>
                  <a:cubicBezTo>
                    <a:pt x="84" y="715"/>
                    <a:pt x="0" y="798"/>
                    <a:pt x="0" y="882"/>
                  </a:cubicBezTo>
                  <a:cubicBezTo>
                    <a:pt x="0" y="977"/>
                    <a:pt x="84" y="1048"/>
                    <a:pt x="167" y="1048"/>
                  </a:cubicBezTo>
                  <a:lnTo>
                    <a:pt x="715" y="1048"/>
                  </a:lnTo>
                  <a:lnTo>
                    <a:pt x="715" y="1596"/>
                  </a:lnTo>
                  <a:cubicBezTo>
                    <a:pt x="715" y="1691"/>
                    <a:pt x="798" y="1763"/>
                    <a:pt x="881" y="1763"/>
                  </a:cubicBezTo>
                  <a:cubicBezTo>
                    <a:pt x="965" y="1763"/>
                    <a:pt x="1048" y="1691"/>
                    <a:pt x="1048" y="1596"/>
                  </a:cubicBezTo>
                  <a:lnTo>
                    <a:pt x="1048" y="1048"/>
                  </a:lnTo>
                  <a:lnTo>
                    <a:pt x="1596" y="1048"/>
                  </a:lnTo>
                  <a:cubicBezTo>
                    <a:pt x="1679" y="1048"/>
                    <a:pt x="1762" y="977"/>
                    <a:pt x="1762" y="882"/>
                  </a:cubicBezTo>
                  <a:cubicBezTo>
                    <a:pt x="1762" y="798"/>
                    <a:pt x="1679" y="715"/>
                    <a:pt x="1596" y="715"/>
                  </a:cubicBezTo>
                  <a:lnTo>
                    <a:pt x="1048" y="715"/>
                  </a:lnTo>
                  <a:lnTo>
                    <a:pt x="1048" y="167"/>
                  </a:lnTo>
                  <a:cubicBezTo>
                    <a:pt x="1048" y="72"/>
                    <a:pt x="965" y="1"/>
                    <a:pt x="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24" name="Google Shape;2503;p56">
              <a:extLst>
                <a:ext uri="{FF2B5EF4-FFF2-40B4-BE49-F238E27FC236}">
                  <a16:creationId xmlns:a16="http://schemas.microsoft.com/office/drawing/2014/main" id="{52335614-5B69-9FE7-A7B4-6A8DEB15764A}"/>
                </a:ext>
              </a:extLst>
            </p:cNvPr>
            <p:cNvSpPr/>
            <p:nvPr/>
          </p:nvSpPr>
          <p:spPr>
            <a:xfrm>
              <a:off x="5885730" y="3515391"/>
              <a:ext cx="109263" cy="109263"/>
            </a:xfrm>
            <a:custGeom>
              <a:avLst/>
              <a:gdLst/>
              <a:ahLst/>
              <a:cxnLst/>
              <a:rect l="l" t="t" r="r" b="b"/>
              <a:pathLst>
                <a:path w="3430" h="3430" extrusionOk="0">
                  <a:moveTo>
                    <a:pt x="1715" y="345"/>
                  </a:moveTo>
                  <a:cubicBezTo>
                    <a:pt x="2477" y="345"/>
                    <a:pt x="3096" y="976"/>
                    <a:pt x="3096" y="1727"/>
                  </a:cubicBezTo>
                  <a:cubicBezTo>
                    <a:pt x="3096" y="2489"/>
                    <a:pt x="2477" y="3120"/>
                    <a:pt x="1715" y="3120"/>
                  </a:cubicBezTo>
                  <a:cubicBezTo>
                    <a:pt x="953" y="3120"/>
                    <a:pt x="334" y="2489"/>
                    <a:pt x="334" y="1727"/>
                  </a:cubicBezTo>
                  <a:cubicBezTo>
                    <a:pt x="334" y="976"/>
                    <a:pt x="953" y="345"/>
                    <a:pt x="1715" y="345"/>
                  </a:cubicBezTo>
                  <a:close/>
                  <a:moveTo>
                    <a:pt x="1715" y="0"/>
                  </a:moveTo>
                  <a:cubicBezTo>
                    <a:pt x="775" y="0"/>
                    <a:pt x="1" y="762"/>
                    <a:pt x="1" y="1715"/>
                  </a:cubicBezTo>
                  <a:cubicBezTo>
                    <a:pt x="1" y="2667"/>
                    <a:pt x="775" y="3429"/>
                    <a:pt x="1715" y="3429"/>
                  </a:cubicBezTo>
                  <a:cubicBezTo>
                    <a:pt x="2656" y="3429"/>
                    <a:pt x="3430" y="2667"/>
                    <a:pt x="3430" y="1715"/>
                  </a:cubicBezTo>
                  <a:cubicBezTo>
                    <a:pt x="3430" y="774"/>
                    <a:pt x="2668" y="0"/>
                    <a:pt x="1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25" name="Google Shape;2504;p56">
              <a:extLst>
                <a:ext uri="{FF2B5EF4-FFF2-40B4-BE49-F238E27FC236}">
                  <a16:creationId xmlns:a16="http://schemas.microsoft.com/office/drawing/2014/main" id="{242CC352-B2FB-9AC2-B22F-446D29E2A224}"/>
                </a:ext>
              </a:extLst>
            </p:cNvPr>
            <p:cNvSpPr/>
            <p:nvPr/>
          </p:nvSpPr>
          <p:spPr>
            <a:xfrm>
              <a:off x="5862986" y="3476305"/>
              <a:ext cx="154783" cy="188167"/>
            </a:xfrm>
            <a:custGeom>
              <a:avLst/>
              <a:gdLst/>
              <a:ahLst/>
              <a:cxnLst/>
              <a:rect l="l" t="t" r="r" b="b"/>
              <a:pathLst>
                <a:path w="4859" h="5907" extrusionOk="0">
                  <a:moveTo>
                    <a:pt x="167" y="1"/>
                  </a:moveTo>
                  <a:cubicBezTo>
                    <a:pt x="84" y="1"/>
                    <a:pt x="0" y="72"/>
                    <a:pt x="0" y="156"/>
                  </a:cubicBezTo>
                  <a:lnTo>
                    <a:pt x="0" y="5740"/>
                  </a:lnTo>
                  <a:cubicBezTo>
                    <a:pt x="0" y="5835"/>
                    <a:pt x="84" y="5906"/>
                    <a:pt x="167" y="5906"/>
                  </a:cubicBezTo>
                  <a:lnTo>
                    <a:pt x="4691" y="5906"/>
                  </a:lnTo>
                  <a:cubicBezTo>
                    <a:pt x="4787" y="5906"/>
                    <a:pt x="4858" y="5835"/>
                    <a:pt x="4858" y="5740"/>
                  </a:cubicBezTo>
                  <a:lnTo>
                    <a:pt x="4858" y="156"/>
                  </a:lnTo>
                  <a:cubicBezTo>
                    <a:pt x="4858" y="72"/>
                    <a:pt x="4775" y="1"/>
                    <a:pt x="4691" y="1"/>
                  </a:cubicBezTo>
                  <a:lnTo>
                    <a:pt x="1715" y="1"/>
                  </a:lnTo>
                  <a:cubicBezTo>
                    <a:pt x="1632" y="1"/>
                    <a:pt x="1548" y="72"/>
                    <a:pt x="1548" y="156"/>
                  </a:cubicBezTo>
                  <a:cubicBezTo>
                    <a:pt x="1548" y="251"/>
                    <a:pt x="1632" y="322"/>
                    <a:pt x="1715" y="322"/>
                  </a:cubicBezTo>
                  <a:lnTo>
                    <a:pt x="4525" y="322"/>
                  </a:lnTo>
                  <a:lnTo>
                    <a:pt x="4525" y="5597"/>
                  </a:lnTo>
                  <a:lnTo>
                    <a:pt x="334" y="5597"/>
                  </a:lnTo>
                  <a:lnTo>
                    <a:pt x="334" y="322"/>
                  </a:lnTo>
                  <a:lnTo>
                    <a:pt x="881" y="322"/>
                  </a:lnTo>
                  <a:cubicBezTo>
                    <a:pt x="977" y="322"/>
                    <a:pt x="1048" y="251"/>
                    <a:pt x="1048" y="156"/>
                  </a:cubicBezTo>
                  <a:cubicBezTo>
                    <a:pt x="1048" y="72"/>
                    <a:pt x="977" y="1"/>
                    <a:pt x="8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</p:grpSp>
      <p:grpSp>
        <p:nvGrpSpPr>
          <p:cNvPr id="62" name="Google Shape;3360;p57">
            <a:extLst>
              <a:ext uri="{FF2B5EF4-FFF2-40B4-BE49-F238E27FC236}">
                <a16:creationId xmlns:a16="http://schemas.microsoft.com/office/drawing/2014/main" id="{E86705CA-E0B2-AC4F-8DCD-2B2AE9460AB2}"/>
              </a:ext>
            </a:extLst>
          </p:cNvPr>
          <p:cNvGrpSpPr/>
          <p:nvPr/>
        </p:nvGrpSpPr>
        <p:grpSpPr>
          <a:xfrm>
            <a:off x="1383039" y="1353020"/>
            <a:ext cx="424546" cy="707740"/>
            <a:chOff x="6912301" y="2781961"/>
            <a:chExt cx="331269" cy="518591"/>
          </a:xfrm>
        </p:grpSpPr>
        <p:sp>
          <p:nvSpPr>
            <p:cNvPr id="63" name="Google Shape;3361;p57">
              <a:extLst>
                <a:ext uri="{FF2B5EF4-FFF2-40B4-BE49-F238E27FC236}">
                  <a16:creationId xmlns:a16="http://schemas.microsoft.com/office/drawing/2014/main" id="{3E0CE125-D7EE-511F-AE64-B8CE10EEB2ED}"/>
                </a:ext>
              </a:extLst>
            </p:cNvPr>
            <p:cNvSpPr/>
            <p:nvPr/>
          </p:nvSpPr>
          <p:spPr>
            <a:xfrm>
              <a:off x="6912301" y="2781961"/>
              <a:ext cx="331269" cy="518591"/>
            </a:xfrm>
            <a:custGeom>
              <a:avLst/>
              <a:gdLst/>
              <a:ahLst/>
              <a:cxnLst/>
              <a:rect l="l" t="t" r="r" b="b"/>
              <a:pathLst>
                <a:path w="331269" h="518591" extrusionOk="0">
                  <a:moveTo>
                    <a:pt x="331218" y="33926"/>
                  </a:moveTo>
                  <a:lnTo>
                    <a:pt x="331218" y="17746"/>
                  </a:lnTo>
                  <a:cubicBezTo>
                    <a:pt x="331218" y="7986"/>
                    <a:pt x="323285" y="0"/>
                    <a:pt x="313472" y="0"/>
                  </a:cubicBezTo>
                  <a:lnTo>
                    <a:pt x="17745" y="0"/>
                  </a:lnTo>
                  <a:cubicBezTo>
                    <a:pt x="7985" y="0"/>
                    <a:pt x="0" y="7933"/>
                    <a:pt x="0" y="17746"/>
                  </a:cubicBezTo>
                  <a:lnTo>
                    <a:pt x="0" y="33926"/>
                  </a:lnTo>
                  <a:cubicBezTo>
                    <a:pt x="0" y="43686"/>
                    <a:pt x="7933" y="51671"/>
                    <a:pt x="17745" y="51671"/>
                  </a:cubicBezTo>
                  <a:lnTo>
                    <a:pt x="20981" y="51671"/>
                  </a:lnTo>
                  <a:cubicBezTo>
                    <a:pt x="6785" y="126099"/>
                    <a:pt x="39145" y="202144"/>
                    <a:pt x="103603" y="243272"/>
                  </a:cubicBezTo>
                  <a:lnTo>
                    <a:pt x="110232" y="247500"/>
                  </a:lnTo>
                  <a:cubicBezTo>
                    <a:pt x="114303" y="250110"/>
                    <a:pt x="116704" y="254494"/>
                    <a:pt x="116704" y="259296"/>
                  </a:cubicBezTo>
                  <a:cubicBezTo>
                    <a:pt x="116704" y="264097"/>
                    <a:pt x="114303" y="268534"/>
                    <a:pt x="110232" y="271091"/>
                  </a:cubicBezTo>
                  <a:lnTo>
                    <a:pt x="103656" y="275319"/>
                  </a:lnTo>
                  <a:cubicBezTo>
                    <a:pt x="39249" y="316447"/>
                    <a:pt x="6837" y="392492"/>
                    <a:pt x="21034" y="466920"/>
                  </a:cubicBezTo>
                  <a:lnTo>
                    <a:pt x="17798" y="466920"/>
                  </a:lnTo>
                  <a:cubicBezTo>
                    <a:pt x="8038" y="466920"/>
                    <a:pt x="52" y="474853"/>
                    <a:pt x="52" y="484666"/>
                  </a:cubicBezTo>
                  <a:lnTo>
                    <a:pt x="52" y="500845"/>
                  </a:lnTo>
                  <a:cubicBezTo>
                    <a:pt x="52" y="510606"/>
                    <a:pt x="7985" y="518591"/>
                    <a:pt x="17798" y="518591"/>
                  </a:cubicBezTo>
                  <a:lnTo>
                    <a:pt x="313524" y="518591"/>
                  </a:lnTo>
                  <a:cubicBezTo>
                    <a:pt x="323285" y="518591"/>
                    <a:pt x="331270" y="510658"/>
                    <a:pt x="331270" y="500845"/>
                  </a:cubicBezTo>
                  <a:lnTo>
                    <a:pt x="331270" y="484666"/>
                  </a:lnTo>
                  <a:cubicBezTo>
                    <a:pt x="331270" y="474905"/>
                    <a:pt x="323337" y="466920"/>
                    <a:pt x="313524" y="466920"/>
                  </a:cubicBezTo>
                  <a:lnTo>
                    <a:pt x="310288" y="466920"/>
                  </a:lnTo>
                  <a:cubicBezTo>
                    <a:pt x="324485" y="392492"/>
                    <a:pt x="292125" y="316447"/>
                    <a:pt x="227667" y="275319"/>
                  </a:cubicBezTo>
                  <a:lnTo>
                    <a:pt x="221038" y="271091"/>
                  </a:lnTo>
                  <a:cubicBezTo>
                    <a:pt x="216967" y="268482"/>
                    <a:pt x="214566" y="264097"/>
                    <a:pt x="214566" y="259296"/>
                  </a:cubicBezTo>
                  <a:cubicBezTo>
                    <a:pt x="214566" y="254494"/>
                    <a:pt x="216967" y="250057"/>
                    <a:pt x="221038" y="247500"/>
                  </a:cubicBezTo>
                  <a:lnTo>
                    <a:pt x="227614" y="243272"/>
                  </a:lnTo>
                  <a:cubicBezTo>
                    <a:pt x="292021" y="202144"/>
                    <a:pt x="324433" y="126099"/>
                    <a:pt x="310236" y="51671"/>
                  </a:cubicBezTo>
                  <a:lnTo>
                    <a:pt x="313472" y="51671"/>
                  </a:lnTo>
                  <a:cubicBezTo>
                    <a:pt x="323232" y="51671"/>
                    <a:pt x="331218" y="43738"/>
                    <a:pt x="331218" y="33926"/>
                  </a:cubicBezTo>
                  <a:close/>
                  <a:moveTo>
                    <a:pt x="316030" y="484613"/>
                  </a:moveTo>
                  <a:lnTo>
                    <a:pt x="316030" y="500793"/>
                  </a:lnTo>
                  <a:cubicBezTo>
                    <a:pt x="316030" y="502202"/>
                    <a:pt x="314881" y="503351"/>
                    <a:pt x="313472" y="503351"/>
                  </a:cubicBezTo>
                  <a:lnTo>
                    <a:pt x="17745" y="503351"/>
                  </a:lnTo>
                  <a:cubicBezTo>
                    <a:pt x="16336" y="503351"/>
                    <a:pt x="15188" y="502202"/>
                    <a:pt x="15188" y="500793"/>
                  </a:cubicBezTo>
                  <a:lnTo>
                    <a:pt x="15188" y="484613"/>
                  </a:lnTo>
                  <a:cubicBezTo>
                    <a:pt x="15188" y="483204"/>
                    <a:pt x="16336" y="482056"/>
                    <a:pt x="17745" y="482056"/>
                  </a:cubicBezTo>
                  <a:lnTo>
                    <a:pt x="30376" y="482056"/>
                  </a:lnTo>
                  <a:cubicBezTo>
                    <a:pt x="30376" y="482056"/>
                    <a:pt x="30376" y="482056"/>
                    <a:pt x="30376" y="482056"/>
                  </a:cubicBezTo>
                  <a:cubicBezTo>
                    <a:pt x="30376" y="482056"/>
                    <a:pt x="30376" y="482056"/>
                    <a:pt x="30376" y="482056"/>
                  </a:cubicBezTo>
                  <a:lnTo>
                    <a:pt x="300737" y="482056"/>
                  </a:lnTo>
                  <a:cubicBezTo>
                    <a:pt x="300737" y="482056"/>
                    <a:pt x="300737" y="482056"/>
                    <a:pt x="300737" y="482056"/>
                  </a:cubicBezTo>
                  <a:cubicBezTo>
                    <a:pt x="300737" y="482056"/>
                    <a:pt x="300737" y="482056"/>
                    <a:pt x="300737" y="482056"/>
                  </a:cubicBezTo>
                  <a:lnTo>
                    <a:pt x="313368" y="482056"/>
                  </a:lnTo>
                  <a:cubicBezTo>
                    <a:pt x="314777" y="482056"/>
                    <a:pt x="315925" y="483204"/>
                    <a:pt x="315925" y="484613"/>
                  </a:cubicBezTo>
                  <a:close/>
                  <a:moveTo>
                    <a:pt x="219472" y="230433"/>
                  </a:moveTo>
                  <a:lnTo>
                    <a:pt x="212844" y="234660"/>
                  </a:lnTo>
                  <a:cubicBezTo>
                    <a:pt x="204388" y="240036"/>
                    <a:pt x="199378" y="249274"/>
                    <a:pt x="199378" y="259296"/>
                  </a:cubicBezTo>
                  <a:cubicBezTo>
                    <a:pt x="199378" y="269317"/>
                    <a:pt x="204441" y="278503"/>
                    <a:pt x="212844" y="283931"/>
                  </a:cubicBezTo>
                  <a:lnTo>
                    <a:pt x="219472" y="288158"/>
                  </a:lnTo>
                  <a:cubicBezTo>
                    <a:pt x="279442" y="326468"/>
                    <a:pt x="309245" y="397712"/>
                    <a:pt x="294787" y="466920"/>
                  </a:cubicBezTo>
                  <a:lnTo>
                    <a:pt x="274223" y="466920"/>
                  </a:lnTo>
                  <a:lnTo>
                    <a:pt x="238836" y="421251"/>
                  </a:lnTo>
                  <a:cubicBezTo>
                    <a:pt x="236278" y="417963"/>
                    <a:pt x="231477" y="417336"/>
                    <a:pt x="228188" y="419894"/>
                  </a:cubicBezTo>
                  <a:cubicBezTo>
                    <a:pt x="224848" y="422451"/>
                    <a:pt x="224274" y="427253"/>
                    <a:pt x="226831" y="430541"/>
                  </a:cubicBezTo>
                  <a:lnTo>
                    <a:pt x="255016" y="466868"/>
                  </a:lnTo>
                  <a:lnTo>
                    <a:pt x="76306" y="466868"/>
                  </a:lnTo>
                  <a:lnTo>
                    <a:pt x="146402" y="376469"/>
                  </a:lnTo>
                  <a:cubicBezTo>
                    <a:pt x="151047" y="370467"/>
                    <a:pt x="158093" y="367022"/>
                    <a:pt x="165661" y="367022"/>
                  </a:cubicBezTo>
                  <a:cubicBezTo>
                    <a:pt x="173229" y="367022"/>
                    <a:pt x="180275" y="370467"/>
                    <a:pt x="184920" y="376469"/>
                  </a:cubicBezTo>
                  <a:lnTo>
                    <a:pt x="205067" y="402461"/>
                  </a:lnTo>
                  <a:cubicBezTo>
                    <a:pt x="207624" y="405802"/>
                    <a:pt x="212426" y="406376"/>
                    <a:pt x="215714" y="403818"/>
                  </a:cubicBezTo>
                  <a:cubicBezTo>
                    <a:pt x="219055" y="401261"/>
                    <a:pt x="219629" y="396459"/>
                    <a:pt x="217071" y="393171"/>
                  </a:cubicBezTo>
                  <a:lnTo>
                    <a:pt x="196925" y="367179"/>
                  </a:lnTo>
                  <a:cubicBezTo>
                    <a:pt x="189357" y="357419"/>
                    <a:pt x="177979" y="351834"/>
                    <a:pt x="165661" y="351834"/>
                  </a:cubicBezTo>
                  <a:cubicBezTo>
                    <a:pt x="165661" y="351834"/>
                    <a:pt x="165661" y="351834"/>
                    <a:pt x="165661" y="351834"/>
                  </a:cubicBezTo>
                  <a:cubicBezTo>
                    <a:pt x="153344" y="351834"/>
                    <a:pt x="141913" y="357419"/>
                    <a:pt x="134397" y="367179"/>
                  </a:cubicBezTo>
                  <a:lnTo>
                    <a:pt x="57099" y="466868"/>
                  </a:lnTo>
                  <a:lnTo>
                    <a:pt x="36535" y="466868"/>
                  </a:lnTo>
                  <a:cubicBezTo>
                    <a:pt x="22078" y="397607"/>
                    <a:pt x="51828" y="326364"/>
                    <a:pt x="111850" y="288054"/>
                  </a:cubicBezTo>
                  <a:lnTo>
                    <a:pt x="118426" y="283826"/>
                  </a:lnTo>
                  <a:cubicBezTo>
                    <a:pt x="126882" y="278450"/>
                    <a:pt x="131892" y="269212"/>
                    <a:pt x="131892" y="259191"/>
                  </a:cubicBezTo>
                  <a:cubicBezTo>
                    <a:pt x="131892" y="249170"/>
                    <a:pt x="126829" y="239984"/>
                    <a:pt x="118426" y="234556"/>
                  </a:cubicBezTo>
                  <a:lnTo>
                    <a:pt x="111798" y="230328"/>
                  </a:lnTo>
                  <a:cubicBezTo>
                    <a:pt x="51828" y="192019"/>
                    <a:pt x="22025" y="120775"/>
                    <a:pt x="36483" y="51567"/>
                  </a:cubicBezTo>
                  <a:lnTo>
                    <a:pt x="71974" y="51567"/>
                  </a:lnTo>
                  <a:cubicBezTo>
                    <a:pt x="76150" y="51567"/>
                    <a:pt x="79595" y="48174"/>
                    <a:pt x="79595" y="43947"/>
                  </a:cubicBezTo>
                  <a:cubicBezTo>
                    <a:pt x="79595" y="39719"/>
                    <a:pt x="76202" y="36326"/>
                    <a:pt x="71974" y="36326"/>
                  </a:cubicBezTo>
                  <a:lnTo>
                    <a:pt x="17745" y="36326"/>
                  </a:lnTo>
                  <a:cubicBezTo>
                    <a:pt x="16336" y="36326"/>
                    <a:pt x="15188" y="35178"/>
                    <a:pt x="15188" y="33769"/>
                  </a:cubicBezTo>
                  <a:lnTo>
                    <a:pt x="15188" y="17589"/>
                  </a:lnTo>
                  <a:cubicBezTo>
                    <a:pt x="15188" y="16180"/>
                    <a:pt x="16336" y="15032"/>
                    <a:pt x="17745" y="15032"/>
                  </a:cubicBezTo>
                  <a:lnTo>
                    <a:pt x="313472" y="15032"/>
                  </a:lnTo>
                  <a:cubicBezTo>
                    <a:pt x="314881" y="15032"/>
                    <a:pt x="316030" y="16180"/>
                    <a:pt x="316030" y="17589"/>
                  </a:cubicBezTo>
                  <a:lnTo>
                    <a:pt x="316030" y="33769"/>
                  </a:lnTo>
                  <a:cubicBezTo>
                    <a:pt x="316030" y="35178"/>
                    <a:pt x="314881" y="36326"/>
                    <a:pt x="313472" y="36326"/>
                  </a:cubicBezTo>
                  <a:lnTo>
                    <a:pt x="107413" y="36326"/>
                  </a:lnTo>
                  <a:cubicBezTo>
                    <a:pt x="103238" y="36326"/>
                    <a:pt x="99793" y="39719"/>
                    <a:pt x="99793" y="43947"/>
                  </a:cubicBezTo>
                  <a:cubicBezTo>
                    <a:pt x="99793" y="48174"/>
                    <a:pt x="103186" y="51567"/>
                    <a:pt x="107413" y="51567"/>
                  </a:cubicBezTo>
                  <a:lnTo>
                    <a:pt x="294735" y="51567"/>
                  </a:lnTo>
                  <a:cubicBezTo>
                    <a:pt x="309192" y="120827"/>
                    <a:pt x="279442" y="192071"/>
                    <a:pt x="219420" y="2303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28" name="Google Shape;3362;p57">
              <a:extLst>
                <a:ext uri="{FF2B5EF4-FFF2-40B4-BE49-F238E27FC236}">
                  <a16:creationId xmlns:a16="http://schemas.microsoft.com/office/drawing/2014/main" id="{01769571-2013-29A7-2654-4F001229C6BC}"/>
                </a:ext>
              </a:extLst>
            </p:cNvPr>
            <p:cNvSpPr/>
            <p:nvPr/>
          </p:nvSpPr>
          <p:spPr>
            <a:xfrm>
              <a:off x="6966227" y="2861050"/>
              <a:ext cx="223522" cy="181667"/>
            </a:xfrm>
            <a:custGeom>
              <a:avLst/>
              <a:gdLst/>
              <a:ahLst/>
              <a:cxnLst/>
              <a:rect l="l" t="t" r="r" b="b"/>
              <a:pathLst>
                <a:path w="223522" h="181667" extrusionOk="0">
                  <a:moveTo>
                    <a:pt x="4530" y="3480"/>
                  </a:moveTo>
                  <a:cubicBezTo>
                    <a:pt x="1242" y="6455"/>
                    <a:pt x="-428" y="10892"/>
                    <a:pt x="94" y="15328"/>
                  </a:cubicBezTo>
                  <a:cubicBezTo>
                    <a:pt x="2599" y="35944"/>
                    <a:pt x="10428" y="66582"/>
                    <a:pt x="33602" y="95706"/>
                  </a:cubicBezTo>
                  <a:cubicBezTo>
                    <a:pt x="56463" y="124464"/>
                    <a:pt x="83969" y="139078"/>
                    <a:pt x="104115" y="146437"/>
                  </a:cubicBezTo>
                  <a:lnTo>
                    <a:pt x="104115" y="174047"/>
                  </a:lnTo>
                  <a:cubicBezTo>
                    <a:pt x="104115" y="178223"/>
                    <a:pt x="107508" y="181668"/>
                    <a:pt x="111735" y="181668"/>
                  </a:cubicBezTo>
                  <a:cubicBezTo>
                    <a:pt x="115963" y="181668"/>
                    <a:pt x="119355" y="178275"/>
                    <a:pt x="119355" y="174047"/>
                  </a:cubicBezTo>
                  <a:lnTo>
                    <a:pt x="119355" y="146489"/>
                  </a:lnTo>
                  <a:cubicBezTo>
                    <a:pt x="136631" y="140435"/>
                    <a:pt x="160431" y="128744"/>
                    <a:pt x="181518" y="106510"/>
                  </a:cubicBezTo>
                  <a:cubicBezTo>
                    <a:pt x="212573" y="73732"/>
                    <a:pt x="221132" y="35266"/>
                    <a:pt x="223429" y="15224"/>
                  </a:cubicBezTo>
                  <a:cubicBezTo>
                    <a:pt x="223951" y="10839"/>
                    <a:pt x="222281" y="6455"/>
                    <a:pt x="218992" y="3480"/>
                  </a:cubicBezTo>
                  <a:cubicBezTo>
                    <a:pt x="215704" y="505"/>
                    <a:pt x="211111" y="-643"/>
                    <a:pt x="206779" y="349"/>
                  </a:cubicBezTo>
                  <a:cubicBezTo>
                    <a:pt x="177290" y="7134"/>
                    <a:pt x="147018" y="10787"/>
                    <a:pt x="116798" y="11100"/>
                  </a:cubicBezTo>
                  <a:cubicBezTo>
                    <a:pt x="83238" y="11518"/>
                    <a:pt x="49573" y="7864"/>
                    <a:pt x="16796" y="349"/>
                  </a:cubicBezTo>
                  <a:cubicBezTo>
                    <a:pt x="12464" y="-643"/>
                    <a:pt x="7871" y="505"/>
                    <a:pt x="4583" y="3480"/>
                  </a:cubicBezTo>
                  <a:close/>
                  <a:moveTo>
                    <a:pt x="116903" y="26289"/>
                  </a:moveTo>
                  <a:cubicBezTo>
                    <a:pt x="147488" y="25923"/>
                    <a:pt x="178125" y="22322"/>
                    <a:pt x="208032" y="15589"/>
                  </a:cubicBezTo>
                  <a:cubicBezTo>
                    <a:pt x="205579" y="34222"/>
                    <a:pt x="197384" y="67573"/>
                    <a:pt x="170453" y="96019"/>
                  </a:cubicBezTo>
                  <a:cubicBezTo>
                    <a:pt x="150410" y="117157"/>
                    <a:pt x="127602" y="127804"/>
                    <a:pt x="111788" y="132971"/>
                  </a:cubicBezTo>
                  <a:cubicBezTo>
                    <a:pt x="96599" y="127752"/>
                    <a:pt x="68258" y="114808"/>
                    <a:pt x="45502" y="86206"/>
                  </a:cubicBezTo>
                  <a:cubicBezTo>
                    <a:pt x="25356" y="60841"/>
                    <a:pt x="18049" y="34170"/>
                    <a:pt x="15491" y="15589"/>
                  </a:cubicBezTo>
                  <a:cubicBezTo>
                    <a:pt x="48738" y="23053"/>
                    <a:pt x="82872" y="26654"/>
                    <a:pt x="116955" y="26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29" name="Google Shape;3363;p57">
              <a:extLst>
                <a:ext uri="{FF2B5EF4-FFF2-40B4-BE49-F238E27FC236}">
                  <a16:creationId xmlns:a16="http://schemas.microsoft.com/office/drawing/2014/main" id="{C711ECD0-1913-B18A-38DB-9D03ABCE6E17}"/>
                </a:ext>
              </a:extLst>
            </p:cNvPr>
            <p:cNvSpPr/>
            <p:nvPr/>
          </p:nvSpPr>
          <p:spPr>
            <a:xfrm>
              <a:off x="7070342" y="3055662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 extrusionOk="0">
                  <a:moveTo>
                    <a:pt x="15240" y="7620"/>
                  </a:moveTo>
                  <a:cubicBezTo>
                    <a:pt x="15240" y="11829"/>
                    <a:pt x="11828" y="15240"/>
                    <a:pt x="7620" y="15240"/>
                  </a:cubicBezTo>
                  <a:cubicBezTo>
                    <a:pt x="3411" y="15240"/>
                    <a:pt x="0" y="11829"/>
                    <a:pt x="0" y="7620"/>
                  </a:cubicBezTo>
                  <a:cubicBezTo>
                    <a:pt x="0" y="3412"/>
                    <a:pt x="3411" y="0"/>
                    <a:pt x="7620" y="0"/>
                  </a:cubicBezTo>
                  <a:cubicBezTo>
                    <a:pt x="11828" y="0"/>
                    <a:pt x="15240" y="3412"/>
                    <a:pt x="15240" y="7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30" name="Google Shape;3364;p57">
              <a:extLst>
                <a:ext uri="{FF2B5EF4-FFF2-40B4-BE49-F238E27FC236}">
                  <a16:creationId xmlns:a16="http://schemas.microsoft.com/office/drawing/2014/main" id="{81F595BD-B851-C19F-DF72-7C822E3DF769}"/>
                </a:ext>
              </a:extLst>
            </p:cNvPr>
            <p:cNvSpPr/>
            <p:nvPr/>
          </p:nvSpPr>
          <p:spPr>
            <a:xfrm>
              <a:off x="7070342" y="3086038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 extrusionOk="0">
                  <a:moveTo>
                    <a:pt x="15240" y="7620"/>
                  </a:moveTo>
                  <a:cubicBezTo>
                    <a:pt x="15240" y="11829"/>
                    <a:pt x="11828" y="15240"/>
                    <a:pt x="7620" y="15240"/>
                  </a:cubicBezTo>
                  <a:cubicBezTo>
                    <a:pt x="3411" y="15240"/>
                    <a:pt x="0" y="11829"/>
                    <a:pt x="0" y="7620"/>
                  </a:cubicBezTo>
                  <a:cubicBezTo>
                    <a:pt x="0" y="3412"/>
                    <a:pt x="3411" y="0"/>
                    <a:pt x="7620" y="0"/>
                  </a:cubicBezTo>
                  <a:cubicBezTo>
                    <a:pt x="11828" y="0"/>
                    <a:pt x="15240" y="3412"/>
                    <a:pt x="15240" y="7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</p:grpSp>
      <p:grpSp>
        <p:nvGrpSpPr>
          <p:cNvPr id="131" name="Google Shape;4582;p59">
            <a:extLst>
              <a:ext uri="{FF2B5EF4-FFF2-40B4-BE49-F238E27FC236}">
                <a16:creationId xmlns:a16="http://schemas.microsoft.com/office/drawing/2014/main" id="{5809EBFF-D8DC-2E12-2088-E94A235877DE}"/>
              </a:ext>
            </a:extLst>
          </p:cNvPr>
          <p:cNvGrpSpPr/>
          <p:nvPr/>
        </p:nvGrpSpPr>
        <p:grpSpPr>
          <a:xfrm>
            <a:off x="1446348" y="3234749"/>
            <a:ext cx="574870" cy="628707"/>
            <a:chOff x="3308127" y="3414712"/>
            <a:chExt cx="283582" cy="283749"/>
          </a:xfrm>
        </p:grpSpPr>
        <p:sp>
          <p:nvSpPr>
            <p:cNvPr id="132" name="Google Shape;4583;p59">
              <a:extLst>
                <a:ext uri="{FF2B5EF4-FFF2-40B4-BE49-F238E27FC236}">
                  <a16:creationId xmlns:a16="http://schemas.microsoft.com/office/drawing/2014/main" id="{CDAAD3B9-64C9-5F4B-9D9C-3914BDAEFB19}"/>
                </a:ext>
              </a:extLst>
            </p:cNvPr>
            <p:cNvSpPr/>
            <p:nvPr/>
          </p:nvSpPr>
          <p:spPr>
            <a:xfrm>
              <a:off x="3337083" y="3467194"/>
              <a:ext cx="34290" cy="55340"/>
            </a:xfrm>
            <a:custGeom>
              <a:avLst/>
              <a:gdLst/>
              <a:ahLst/>
              <a:cxnLst/>
              <a:rect l="l" t="t" r="r" b="b"/>
              <a:pathLst>
                <a:path w="34290" h="55340" extrusionOk="0">
                  <a:moveTo>
                    <a:pt x="17050" y="55340"/>
                  </a:moveTo>
                  <a:cubicBezTo>
                    <a:pt x="19336" y="55340"/>
                    <a:pt x="21241" y="53435"/>
                    <a:pt x="21241" y="51149"/>
                  </a:cubicBezTo>
                  <a:lnTo>
                    <a:pt x="21241" y="8382"/>
                  </a:lnTo>
                  <a:lnTo>
                    <a:pt x="30099" y="8382"/>
                  </a:lnTo>
                  <a:cubicBezTo>
                    <a:pt x="32385" y="8382"/>
                    <a:pt x="34290" y="6477"/>
                    <a:pt x="34290" y="4191"/>
                  </a:cubicBezTo>
                  <a:cubicBezTo>
                    <a:pt x="34290" y="1905"/>
                    <a:pt x="32385" y="0"/>
                    <a:pt x="30099" y="0"/>
                  </a:cubicBez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12954" y="8382"/>
                  </a:lnTo>
                  <a:lnTo>
                    <a:pt x="12954" y="51149"/>
                  </a:lnTo>
                  <a:cubicBezTo>
                    <a:pt x="12954" y="53435"/>
                    <a:pt x="14859" y="55340"/>
                    <a:pt x="17145" y="553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33" name="Google Shape;4584;p59">
              <a:extLst>
                <a:ext uri="{FF2B5EF4-FFF2-40B4-BE49-F238E27FC236}">
                  <a16:creationId xmlns:a16="http://schemas.microsoft.com/office/drawing/2014/main" id="{45E61855-BFFF-7AEE-A98F-5A5A1FF84E53}"/>
                </a:ext>
              </a:extLst>
            </p:cNvPr>
            <p:cNvSpPr/>
            <p:nvPr/>
          </p:nvSpPr>
          <p:spPr>
            <a:xfrm>
              <a:off x="3387185" y="3467290"/>
              <a:ext cx="68484" cy="8382"/>
            </a:xfrm>
            <a:custGeom>
              <a:avLst/>
              <a:gdLst/>
              <a:ahLst/>
              <a:cxnLst/>
              <a:rect l="l" t="t" r="r" b="b"/>
              <a:pathLst>
                <a:path w="68484" h="8382" extrusionOk="0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34" name="Google Shape;4585;p59">
              <a:extLst>
                <a:ext uri="{FF2B5EF4-FFF2-40B4-BE49-F238E27FC236}">
                  <a16:creationId xmlns:a16="http://schemas.microsoft.com/office/drawing/2014/main" id="{330C7DAF-2D58-132C-A000-296FCCA61D70}"/>
                </a:ext>
              </a:extLst>
            </p:cNvPr>
            <p:cNvSpPr/>
            <p:nvPr/>
          </p:nvSpPr>
          <p:spPr>
            <a:xfrm>
              <a:off x="3387185" y="3490816"/>
              <a:ext cx="68484" cy="8381"/>
            </a:xfrm>
            <a:custGeom>
              <a:avLst/>
              <a:gdLst/>
              <a:ahLst/>
              <a:cxnLst/>
              <a:rect l="l" t="t" r="r" b="b"/>
              <a:pathLst>
                <a:path w="68484" h="8381" extrusionOk="0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0" name="Google Shape;4586;p59">
              <a:extLst>
                <a:ext uri="{FF2B5EF4-FFF2-40B4-BE49-F238E27FC236}">
                  <a16:creationId xmlns:a16="http://schemas.microsoft.com/office/drawing/2014/main" id="{A895C81C-ADE5-C10D-F1DC-EC1C7FABB97C}"/>
                </a:ext>
              </a:extLst>
            </p:cNvPr>
            <p:cNvSpPr/>
            <p:nvPr/>
          </p:nvSpPr>
          <p:spPr>
            <a:xfrm>
              <a:off x="3387185" y="3514248"/>
              <a:ext cx="68484" cy="8382"/>
            </a:xfrm>
            <a:custGeom>
              <a:avLst/>
              <a:gdLst/>
              <a:ahLst/>
              <a:cxnLst/>
              <a:rect l="l" t="t" r="r" b="b"/>
              <a:pathLst>
                <a:path w="68484" h="8382" extrusionOk="0">
                  <a:moveTo>
                    <a:pt x="64294" y="0"/>
                  </a:move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lnTo>
                    <a:pt x="64294" y="8382"/>
                  </a:lnTo>
                  <a:cubicBezTo>
                    <a:pt x="66580" y="8382"/>
                    <a:pt x="68485" y="6477"/>
                    <a:pt x="68485" y="4191"/>
                  </a:cubicBezTo>
                  <a:cubicBezTo>
                    <a:pt x="68485" y="1905"/>
                    <a:pt x="66580" y="0"/>
                    <a:pt x="6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1" name="Google Shape;4587;p59">
              <a:extLst>
                <a:ext uri="{FF2B5EF4-FFF2-40B4-BE49-F238E27FC236}">
                  <a16:creationId xmlns:a16="http://schemas.microsoft.com/office/drawing/2014/main" id="{55644AC8-8298-61F7-D47E-9DA816FEC4A9}"/>
                </a:ext>
              </a:extLst>
            </p:cNvPr>
            <p:cNvSpPr/>
            <p:nvPr/>
          </p:nvSpPr>
          <p:spPr>
            <a:xfrm>
              <a:off x="3337083" y="3537584"/>
              <a:ext cx="118586" cy="8381"/>
            </a:xfrm>
            <a:custGeom>
              <a:avLst/>
              <a:gdLst/>
              <a:ahLst/>
              <a:cxnLst/>
              <a:rect l="l" t="t" r="r" b="b"/>
              <a:pathLst>
                <a:path w="118586" h="8381" extrusionOk="0">
                  <a:moveTo>
                    <a:pt x="4191" y="8382"/>
                  </a:moveTo>
                  <a:lnTo>
                    <a:pt x="114395" y="8382"/>
                  </a:lnTo>
                  <a:cubicBezTo>
                    <a:pt x="116681" y="8382"/>
                    <a:pt x="118586" y="6477"/>
                    <a:pt x="118586" y="4191"/>
                  </a:cubicBezTo>
                  <a:cubicBezTo>
                    <a:pt x="118586" y="1905"/>
                    <a:pt x="116681" y="0"/>
                    <a:pt x="114395" y="0"/>
                  </a:cubicBezTo>
                  <a:lnTo>
                    <a:pt x="4191" y="0"/>
                  </a:ln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2" name="Google Shape;4588;p59">
              <a:extLst>
                <a:ext uri="{FF2B5EF4-FFF2-40B4-BE49-F238E27FC236}">
                  <a16:creationId xmlns:a16="http://schemas.microsoft.com/office/drawing/2014/main" id="{4EC34B11-C463-5007-DBB0-4CE5DAFD60AF}"/>
                </a:ext>
              </a:extLst>
            </p:cNvPr>
            <p:cNvSpPr/>
            <p:nvPr/>
          </p:nvSpPr>
          <p:spPr>
            <a:xfrm>
              <a:off x="3512915" y="3594639"/>
              <a:ext cx="22836" cy="50077"/>
            </a:xfrm>
            <a:custGeom>
              <a:avLst/>
              <a:gdLst/>
              <a:ahLst/>
              <a:cxnLst/>
              <a:rect l="l" t="t" r="r" b="b"/>
              <a:pathLst>
                <a:path w="22836" h="50077" extrusionOk="0">
                  <a:moveTo>
                    <a:pt x="4191" y="0"/>
                  </a:moveTo>
                  <a:cubicBezTo>
                    <a:pt x="1905" y="0"/>
                    <a:pt x="0" y="1905"/>
                    <a:pt x="0" y="4191"/>
                  </a:cubicBezTo>
                  <a:lnTo>
                    <a:pt x="0" y="31433"/>
                  </a:lnTo>
                  <a:cubicBezTo>
                    <a:pt x="0" y="32575"/>
                    <a:pt x="476" y="33623"/>
                    <a:pt x="1238" y="34385"/>
                  </a:cubicBezTo>
                  <a:lnTo>
                    <a:pt x="15716" y="48863"/>
                  </a:lnTo>
                  <a:cubicBezTo>
                    <a:pt x="17335" y="50483"/>
                    <a:pt x="20003" y="50483"/>
                    <a:pt x="21622" y="48863"/>
                  </a:cubicBezTo>
                  <a:cubicBezTo>
                    <a:pt x="23241" y="47244"/>
                    <a:pt x="23241" y="44577"/>
                    <a:pt x="21622" y="42958"/>
                  </a:cubicBezTo>
                  <a:lnTo>
                    <a:pt x="8382" y="29718"/>
                  </a:lnTo>
                  <a:lnTo>
                    <a:pt x="8382" y="4191"/>
                  </a:lnTo>
                  <a:cubicBezTo>
                    <a:pt x="8382" y="1905"/>
                    <a:pt x="6477" y="0"/>
                    <a:pt x="4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3" name="Google Shape;4589;p59">
              <a:extLst>
                <a:ext uri="{FF2B5EF4-FFF2-40B4-BE49-F238E27FC236}">
                  <a16:creationId xmlns:a16="http://schemas.microsoft.com/office/drawing/2014/main" id="{77CFBE2F-458D-AD86-C359-68BE4C46D394}"/>
                </a:ext>
              </a:extLst>
            </p:cNvPr>
            <p:cNvSpPr/>
            <p:nvPr/>
          </p:nvSpPr>
          <p:spPr>
            <a:xfrm>
              <a:off x="3308127" y="3414712"/>
              <a:ext cx="224885" cy="283559"/>
            </a:xfrm>
            <a:custGeom>
              <a:avLst/>
              <a:gdLst/>
              <a:ahLst/>
              <a:cxnLst/>
              <a:rect l="l" t="t" r="r" b="b"/>
              <a:pathLst>
                <a:path w="224885" h="283559" extrusionOk="0">
                  <a:moveTo>
                    <a:pt x="151924" y="275368"/>
                  </a:moveTo>
                  <a:lnTo>
                    <a:pt x="23241" y="275368"/>
                  </a:lnTo>
                  <a:cubicBezTo>
                    <a:pt x="15049" y="275368"/>
                    <a:pt x="8287" y="268700"/>
                    <a:pt x="8287" y="260413"/>
                  </a:cubicBezTo>
                  <a:lnTo>
                    <a:pt x="8287" y="23336"/>
                  </a:lnTo>
                  <a:cubicBezTo>
                    <a:pt x="8287" y="15050"/>
                    <a:pt x="14954" y="8382"/>
                    <a:pt x="23241" y="8382"/>
                  </a:cubicBezTo>
                  <a:lnTo>
                    <a:pt x="161449" y="8382"/>
                  </a:lnTo>
                  <a:cubicBezTo>
                    <a:pt x="162306" y="8382"/>
                    <a:pt x="163258" y="8477"/>
                    <a:pt x="164116" y="8668"/>
                  </a:cubicBezTo>
                  <a:lnTo>
                    <a:pt x="164116" y="46482"/>
                  </a:lnTo>
                  <a:cubicBezTo>
                    <a:pt x="164116" y="54388"/>
                    <a:pt x="170497" y="60770"/>
                    <a:pt x="178403" y="60770"/>
                  </a:cubicBezTo>
                  <a:lnTo>
                    <a:pt x="216218" y="60770"/>
                  </a:lnTo>
                  <a:cubicBezTo>
                    <a:pt x="216408" y="61627"/>
                    <a:pt x="216503" y="62484"/>
                    <a:pt x="216503" y="63437"/>
                  </a:cubicBezTo>
                  <a:lnTo>
                    <a:pt x="216503" y="87344"/>
                  </a:lnTo>
                  <a:cubicBezTo>
                    <a:pt x="216503" y="89630"/>
                    <a:pt x="218408" y="91535"/>
                    <a:pt x="220694" y="91535"/>
                  </a:cubicBezTo>
                  <a:cubicBezTo>
                    <a:pt x="222980" y="91535"/>
                    <a:pt x="224885" y="89630"/>
                    <a:pt x="224885" y="87344"/>
                  </a:cubicBezTo>
                  <a:lnTo>
                    <a:pt x="224885" y="63437"/>
                  </a:lnTo>
                  <a:cubicBezTo>
                    <a:pt x="224885" y="57912"/>
                    <a:pt x="222790" y="52769"/>
                    <a:pt x="218885" y="48863"/>
                  </a:cubicBezTo>
                  <a:lnTo>
                    <a:pt x="176022" y="6001"/>
                  </a:lnTo>
                  <a:cubicBezTo>
                    <a:pt x="172117" y="2096"/>
                    <a:pt x="166973" y="0"/>
                    <a:pt x="161449" y="0"/>
                  </a:cubicBezTo>
                  <a:lnTo>
                    <a:pt x="23241" y="0"/>
                  </a:lnTo>
                  <a:cubicBezTo>
                    <a:pt x="10382" y="0"/>
                    <a:pt x="0" y="10477"/>
                    <a:pt x="0" y="23241"/>
                  </a:cubicBezTo>
                  <a:lnTo>
                    <a:pt x="0" y="260318"/>
                  </a:lnTo>
                  <a:cubicBezTo>
                    <a:pt x="0" y="273082"/>
                    <a:pt x="10382" y="283559"/>
                    <a:pt x="23241" y="283559"/>
                  </a:cubicBezTo>
                  <a:lnTo>
                    <a:pt x="151924" y="283559"/>
                  </a:lnTo>
                  <a:cubicBezTo>
                    <a:pt x="154210" y="283559"/>
                    <a:pt x="156115" y="281654"/>
                    <a:pt x="156115" y="279368"/>
                  </a:cubicBezTo>
                  <a:cubicBezTo>
                    <a:pt x="156115" y="277082"/>
                    <a:pt x="154210" y="275177"/>
                    <a:pt x="151924" y="275177"/>
                  </a:cubicBezTo>
                  <a:lnTo>
                    <a:pt x="151924" y="275177"/>
                  </a:lnTo>
                  <a:close/>
                  <a:moveTo>
                    <a:pt x="172498" y="14288"/>
                  </a:moveTo>
                  <a:lnTo>
                    <a:pt x="210693" y="52483"/>
                  </a:lnTo>
                  <a:lnTo>
                    <a:pt x="178499" y="52483"/>
                  </a:lnTo>
                  <a:cubicBezTo>
                    <a:pt x="175165" y="52483"/>
                    <a:pt x="172498" y="49816"/>
                    <a:pt x="172498" y="46482"/>
                  </a:cubicBezTo>
                  <a:lnTo>
                    <a:pt x="172498" y="14288"/>
                  </a:lnTo>
                  <a:lnTo>
                    <a:pt x="172498" y="1428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4" name="Google Shape;4590;p59">
              <a:extLst>
                <a:ext uri="{FF2B5EF4-FFF2-40B4-BE49-F238E27FC236}">
                  <a16:creationId xmlns:a16="http://schemas.microsoft.com/office/drawing/2014/main" id="{786FBF17-D975-72EE-4D21-6F295C5306C8}"/>
                </a:ext>
              </a:extLst>
            </p:cNvPr>
            <p:cNvSpPr/>
            <p:nvPr/>
          </p:nvSpPr>
          <p:spPr>
            <a:xfrm>
              <a:off x="3463099" y="3571969"/>
              <a:ext cx="107217" cy="108108"/>
            </a:xfrm>
            <a:custGeom>
              <a:avLst/>
              <a:gdLst/>
              <a:ahLst/>
              <a:cxnLst/>
              <a:rect l="l" t="t" r="r" b="b"/>
              <a:pathLst>
                <a:path w="107217" h="108108" extrusionOk="0">
                  <a:moveTo>
                    <a:pt x="54007" y="95"/>
                  </a:moveTo>
                  <a:cubicBezTo>
                    <a:pt x="24194" y="95"/>
                    <a:pt x="0" y="24289"/>
                    <a:pt x="0" y="54102"/>
                  </a:cubicBezTo>
                  <a:cubicBezTo>
                    <a:pt x="0" y="83915"/>
                    <a:pt x="24194" y="108109"/>
                    <a:pt x="54007" y="108109"/>
                  </a:cubicBezTo>
                  <a:cubicBezTo>
                    <a:pt x="66484" y="108109"/>
                    <a:pt x="78581" y="103727"/>
                    <a:pt x="88201" y="95917"/>
                  </a:cubicBezTo>
                  <a:cubicBezTo>
                    <a:pt x="97631" y="88201"/>
                    <a:pt x="104299" y="77343"/>
                    <a:pt x="106871" y="65437"/>
                  </a:cubicBezTo>
                  <a:cubicBezTo>
                    <a:pt x="107347" y="63151"/>
                    <a:pt x="105918" y="60960"/>
                    <a:pt x="103632" y="60484"/>
                  </a:cubicBezTo>
                  <a:cubicBezTo>
                    <a:pt x="101441" y="60007"/>
                    <a:pt x="99155" y="61436"/>
                    <a:pt x="98679" y="63722"/>
                  </a:cubicBezTo>
                  <a:cubicBezTo>
                    <a:pt x="94202" y="84677"/>
                    <a:pt x="75438" y="99822"/>
                    <a:pt x="54007" y="99822"/>
                  </a:cubicBezTo>
                  <a:cubicBezTo>
                    <a:pt x="28765" y="99822"/>
                    <a:pt x="8287" y="79343"/>
                    <a:pt x="8287" y="54102"/>
                  </a:cubicBezTo>
                  <a:cubicBezTo>
                    <a:pt x="8287" y="28861"/>
                    <a:pt x="28765" y="8382"/>
                    <a:pt x="54007" y="8382"/>
                  </a:cubicBezTo>
                  <a:cubicBezTo>
                    <a:pt x="76009" y="8382"/>
                    <a:pt x="94869" y="24098"/>
                    <a:pt x="98965" y="45625"/>
                  </a:cubicBezTo>
                  <a:cubicBezTo>
                    <a:pt x="99346" y="47911"/>
                    <a:pt x="101536" y="49340"/>
                    <a:pt x="103823" y="48958"/>
                  </a:cubicBezTo>
                  <a:cubicBezTo>
                    <a:pt x="106108" y="48577"/>
                    <a:pt x="107537" y="46387"/>
                    <a:pt x="107156" y="44101"/>
                  </a:cubicBezTo>
                  <a:cubicBezTo>
                    <a:pt x="102394" y="18574"/>
                    <a:pt x="80105" y="0"/>
                    <a:pt x="54102" y="0"/>
                  </a:cubicBezTo>
                  <a:lnTo>
                    <a:pt x="54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  <p:sp>
          <p:nvSpPr>
            <p:cNvPr id="145" name="Google Shape;4591;p59">
              <a:extLst>
                <a:ext uri="{FF2B5EF4-FFF2-40B4-BE49-F238E27FC236}">
                  <a16:creationId xmlns:a16="http://schemas.microsoft.com/office/drawing/2014/main" id="{371A721B-DB3B-9D90-A27B-0C1272CA747B}"/>
                </a:ext>
              </a:extLst>
            </p:cNvPr>
            <p:cNvSpPr/>
            <p:nvPr/>
          </p:nvSpPr>
          <p:spPr>
            <a:xfrm>
              <a:off x="3442555" y="3517391"/>
              <a:ext cx="149154" cy="181070"/>
            </a:xfrm>
            <a:custGeom>
              <a:avLst/>
              <a:gdLst/>
              <a:ahLst/>
              <a:cxnLst/>
              <a:rect l="l" t="t" r="r" b="b"/>
              <a:pathLst>
                <a:path w="149154" h="181070" extrusionOk="0">
                  <a:moveTo>
                    <a:pt x="143226" y="74390"/>
                  </a:moveTo>
                  <a:cubicBezTo>
                    <a:pt x="149512" y="70009"/>
                    <a:pt x="151036" y="61246"/>
                    <a:pt x="146655" y="54959"/>
                  </a:cubicBezTo>
                  <a:cubicBezTo>
                    <a:pt x="142273" y="48673"/>
                    <a:pt x="133510" y="47149"/>
                    <a:pt x="127224" y="51530"/>
                  </a:cubicBezTo>
                  <a:lnTo>
                    <a:pt x="122747" y="54673"/>
                  </a:lnTo>
                  <a:cubicBezTo>
                    <a:pt x="113698" y="46577"/>
                    <a:pt x="102649" y="40767"/>
                    <a:pt x="90457" y="38005"/>
                  </a:cubicBezTo>
                  <a:lnTo>
                    <a:pt x="90457" y="29337"/>
                  </a:lnTo>
                  <a:cubicBezTo>
                    <a:pt x="98077" y="28766"/>
                    <a:pt x="104078" y="22384"/>
                    <a:pt x="104078" y="14669"/>
                  </a:cubicBezTo>
                  <a:cubicBezTo>
                    <a:pt x="104078" y="6572"/>
                    <a:pt x="97506" y="0"/>
                    <a:pt x="89409" y="0"/>
                  </a:cubicBezTo>
                  <a:lnTo>
                    <a:pt x="59787" y="0"/>
                  </a:lnTo>
                  <a:cubicBezTo>
                    <a:pt x="51690" y="0"/>
                    <a:pt x="45118" y="6572"/>
                    <a:pt x="45118" y="14669"/>
                  </a:cubicBezTo>
                  <a:cubicBezTo>
                    <a:pt x="45118" y="22765"/>
                    <a:pt x="51119" y="28766"/>
                    <a:pt x="58739" y="29337"/>
                  </a:cubicBezTo>
                  <a:lnTo>
                    <a:pt x="58739" y="38005"/>
                  </a:lnTo>
                  <a:cubicBezTo>
                    <a:pt x="46547" y="40767"/>
                    <a:pt x="35498" y="46577"/>
                    <a:pt x="26449" y="54673"/>
                  </a:cubicBezTo>
                  <a:lnTo>
                    <a:pt x="21972" y="51530"/>
                  </a:lnTo>
                  <a:cubicBezTo>
                    <a:pt x="15686" y="47149"/>
                    <a:pt x="7018" y="48673"/>
                    <a:pt x="2541" y="54959"/>
                  </a:cubicBezTo>
                  <a:cubicBezTo>
                    <a:pt x="-1935" y="61246"/>
                    <a:pt x="-316" y="69914"/>
                    <a:pt x="5970" y="74390"/>
                  </a:cubicBezTo>
                  <a:lnTo>
                    <a:pt x="9590" y="76962"/>
                  </a:lnTo>
                  <a:cubicBezTo>
                    <a:pt x="4923" y="86582"/>
                    <a:pt x="2256" y="97346"/>
                    <a:pt x="2256" y="108680"/>
                  </a:cubicBezTo>
                  <a:cubicBezTo>
                    <a:pt x="2256" y="148590"/>
                    <a:pt x="34736" y="181070"/>
                    <a:pt x="74646" y="181070"/>
                  </a:cubicBezTo>
                  <a:cubicBezTo>
                    <a:pt x="114555" y="181070"/>
                    <a:pt x="147036" y="148590"/>
                    <a:pt x="147036" y="108680"/>
                  </a:cubicBezTo>
                  <a:cubicBezTo>
                    <a:pt x="147036" y="97346"/>
                    <a:pt x="144369" y="86582"/>
                    <a:pt x="139701" y="76962"/>
                  </a:cubicBezTo>
                  <a:lnTo>
                    <a:pt x="143321" y="74390"/>
                  </a:lnTo>
                  <a:close/>
                  <a:moveTo>
                    <a:pt x="53405" y="14764"/>
                  </a:moveTo>
                  <a:cubicBezTo>
                    <a:pt x="53405" y="11240"/>
                    <a:pt x="56262" y="8382"/>
                    <a:pt x="59787" y="8382"/>
                  </a:cubicBezTo>
                  <a:lnTo>
                    <a:pt x="89409" y="8382"/>
                  </a:lnTo>
                  <a:cubicBezTo>
                    <a:pt x="92934" y="8382"/>
                    <a:pt x="95791" y="11240"/>
                    <a:pt x="95791" y="14764"/>
                  </a:cubicBezTo>
                  <a:cubicBezTo>
                    <a:pt x="95791" y="18288"/>
                    <a:pt x="92934" y="21146"/>
                    <a:pt x="89409" y="21146"/>
                  </a:cubicBezTo>
                  <a:lnTo>
                    <a:pt x="59787" y="21146"/>
                  </a:lnTo>
                  <a:cubicBezTo>
                    <a:pt x="56262" y="21146"/>
                    <a:pt x="53405" y="18288"/>
                    <a:pt x="53405" y="14764"/>
                  </a:cubicBezTo>
                  <a:close/>
                  <a:moveTo>
                    <a:pt x="82266" y="29432"/>
                  </a:moveTo>
                  <a:lnTo>
                    <a:pt x="82266" y="36671"/>
                  </a:lnTo>
                  <a:cubicBezTo>
                    <a:pt x="79789" y="36385"/>
                    <a:pt x="77217" y="36290"/>
                    <a:pt x="74646" y="36290"/>
                  </a:cubicBezTo>
                  <a:cubicBezTo>
                    <a:pt x="72074" y="36290"/>
                    <a:pt x="69502" y="36385"/>
                    <a:pt x="67026" y="36671"/>
                  </a:cubicBezTo>
                  <a:lnTo>
                    <a:pt x="67026" y="29432"/>
                  </a:lnTo>
                  <a:lnTo>
                    <a:pt x="82266" y="29432"/>
                  </a:lnTo>
                  <a:close/>
                  <a:moveTo>
                    <a:pt x="9399" y="59722"/>
                  </a:moveTo>
                  <a:cubicBezTo>
                    <a:pt x="11209" y="57150"/>
                    <a:pt x="14733" y="56579"/>
                    <a:pt x="17210" y="58388"/>
                  </a:cubicBezTo>
                  <a:lnTo>
                    <a:pt x="20448" y="60674"/>
                  </a:lnTo>
                  <a:cubicBezTo>
                    <a:pt x="17972" y="63437"/>
                    <a:pt x="15686" y="66485"/>
                    <a:pt x="13590" y="69628"/>
                  </a:cubicBezTo>
                  <a:lnTo>
                    <a:pt x="10638" y="67532"/>
                  </a:lnTo>
                  <a:cubicBezTo>
                    <a:pt x="8066" y="65723"/>
                    <a:pt x="7494" y="62198"/>
                    <a:pt x="9304" y="59722"/>
                  </a:cubicBezTo>
                  <a:lnTo>
                    <a:pt x="9304" y="59722"/>
                  </a:lnTo>
                  <a:close/>
                  <a:moveTo>
                    <a:pt x="74646" y="172688"/>
                  </a:moveTo>
                  <a:cubicBezTo>
                    <a:pt x="39308" y="172688"/>
                    <a:pt x="10542" y="143923"/>
                    <a:pt x="10542" y="108585"/>
                  </a:cubicBezTo>
                  <a:cubicBezTo>
                    <a:pt x="10542" y="73247"/>
                    <a:pt x="39308" y="44482"/>
                    <a:pt x="74646" y="44482"/>
                  </a:cubicBezTo>
                  <a:cubicBezTo>
                    <a:pt x="109983" y="44482"/>
                    <a:pt x="138749" y="73247"/>
                    <a:pt x="138749" y="108585"/>
                  </a:cubicBezTo>
                  <a:cubicBezTo>
                    <a:pt x="138749" y="143923"/>
                    <a:pt x="109983" y="172688"/>
                    <a:pt x="74646" y="172688"/>
                  </a:cubicBezTo>
                  <a:close/>
                  <a:moveTo>
                    <a:pt x="138558" y="67532"/>
                  </a:moveTo>
                  <a:lnTo>
                    <a:pt x="135606" y="69628"/>
                  </a:lnTo>
                  <a:cubicBezTo>
                    <a:pt x="133605" y="66485"/>
                    <a:pt x="131319" y="63437"/>
                    <a:pt x="128748" y="60674"/>
                  </a:cubicBezTo>
                  <a:lnTo>
                    <a:pt x="131986" y="58388"/>
                  </a:lnTo>
                  <a:cubicBezTo>
                    <a:pt x="134558" y="56579"/>
                    <a:pt x="138082" y="57245"/>
                    <a:pt x="139797" y="59722"/>
                  </a:cubicBezTo>
                  <a:cubicBezTo>
                    <a:pt x="141606" y="62294"/>
                    <a:pt x="140940" y="65818"/>
                    <a:pt x="138463" y="67532"/>
                  </a:cubicBezTo>
                  <a:lnTo>
                    <a:pt x="138463" y="675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Calibri"/>
              </a:endParaRPr>
            </a:p>
          </p:txBody>
        </p:sp>
      </p:grpSp>
      <p:grpSp>
        <p:nvGrpSpPr>
          <p:cNvPr id="146" name="Google Shape;2139;p55">
            <a:extLst>
              <a:ext uri="{FF2B5EF4-FFF2-40B4-BE49-F238E27FC236}">
                <a16:creationId xmlns:a16="http://schemas.microsoft.com/office/drawing/2014/main" id="{AC5510E1-038F-892D-F5BA-B6047F5DA15D}"/>
              </a:ext>
            </a:extLst>
          </p:cNvPr>
          <p:cNvGrpSpPr/>
          <p:nvPr/>
        </p:nvGrpSpPr>
        <p:grpSpPr>
          <a:xfrm>
            <a:off x="1410521" y="4202980"/>
            <a:ext cx="509846" cy="628286"/>
            <a:chOff x="1421638" y="4125629"/>
            <a:chExt cx="374709" cy="374010"/>
          </a:xfrm>
        </p:grpSpPr>
        <p:sp>
          <p:nvSpPr>
            <p:cNvPr id="147" name="Google Shape;2140;p55">
              <a:extLst>
                <a:ext uri="{FF2B5EF4-FFF2-40B4-BE49-F238E27FC236}">
                  <a16:creationId xmlns:a16="http://schemas.microsoft.com/office/drawing/2014/main" id="{C68A9EE6-08CC-8F34-C7E0-F34C920A421B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148" name="Google Shape;2141;p55">
              <a:extLst>
                <a:ext uri="{FF2B5EF4-FFF2-40B4-BE49-F238E27FC236}">
                  <a16:creationId xmlns:a16="http://schemas.microsoft.com/office/drawing/2014/main" id="{C882B2DD-B045-9404-FA83-45BB1DE69136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</p:grpSp>
      <p:sp>
        <p:nvSpPr>
          <p:cNvPr id="149" name="Szövegdoboz 148">
            <a:extLst>
              <a:ext uri="{FF2B5EF4-FFF2-40B4-BE49-F238E27FC236}">
                <a16:creationId xmlns:a16="http://schemas.microsoft.com/office/drawing/2014/main" id="{3E4C877F-B757-6D9D-E72F-1669B37711F3}"/>
              </a:ext>
            </a:extLst>
          </p:cNvPr>
          <p:cNvSpPr txBox="1"/>
          <p:nvPr/>
        </p:nvSpPr>
        <p:spPr>
          <a:xfrm>
            <a:off x="2836654" y="3930875"/>
            <a:ext cx="4835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Növekvő adat- és felhasználószám miatt szükség van modern, digitális megoldásra</a:t>
            </a:r>
          </a:p>
        </p:txBody>
      </p:sp>
      <p:sp>
        <p:nvSpPr>
          <p:cNvPr id="153" name="Szövegdoboz 152">
            <a:extLst>
              <a:ext uri="{FF2B5EF4-FFF2-40B4-BE49-F238E27FC236}">
                <a16:creationId xmlns:a16="http://schemas.microsoft.com/office/drawing/2014/main" id="{6FD35C52-6053-5A20-98C5-22B9C76960FD}"/>
              </a:ext>
            </a:extLst>
          </p:cNvPr>
          <p:cNvSpPr txBox="1"/>
          <p:nvPr/>
        </p:nvSpPr>
        <p:spPr>
          <a:xfrm>
            <a:off x="2836654" y="3119709"/>
            <a:ext cx="4279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Adminisztráció sok időt vesz igénybe</a:t>
            </a:r>
          </a:p>
        </p:txBody>
      </p:sp>
      <p:sp>
        <p:nvSpPr>
          <p:cNvPr id="156" name="Szövegdoboz 155">
            <a:extLst>
              <a:ext uri="{FF2B5EF4-FFF2-40B4-BE49-F238E27FC236}">
                <a16:creationId xmlns:a16="http://schemas.microsoft.com/office/drawing/2014/main" id="{66584172-2B13-38A6-1308-F8DD0002BF40}"/>
              </a:ext>
            </a:extLst>
          </p:cNvPr>
          <p:cNvSpPr txBox="1"/>
          <p:nvPr/>
        </p:nvSpPr>
        <p:spPr>
          <a:xfrm>
            <a:off x="2836654" y="2233523"/>
            <a:ext cx="4279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Gyógyszerbevétel és időpontok követése nehézkes</a:t>
            </a:r>
          </a:p>
        </p:txBody>
      </p:sp>
      <p:sp>
        <p:nvSpPr>
          <p:cNvPr id="159" name="Szövegdoboz 158">
            <a:extLst>
              <a:ext uri="{FF2B5EF4-FFF2-40B4-BE49-F238E27FC236}">
                <a16:creationId xmlns:a16="http://schemas.microsoft.com/office/drawing/2014/main" id="{91CA93E8-D38E-2F91-5471-02B43D6F9279}"/>
              </a:ext>
            </a:extLst>
          </p:cNvPr>
          <p:cNvSpPr txBox="1"/>
          <p:nvPr/>
        </p:nvSpPr>
        <p:spPr>
          <a:xfrm>
            <a:off x="2836654" y="1360831"/>
            <a:ext cx="5310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Járóbeteg Orvos–páciens kommunikáció gyakran lassú vagy hiányos </a:t>
            </a:r>
          </a:p>
        </p:txBody>
      </p:sp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73E99CAA-E102-A967-DC64-D6E24D6413CD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Szövegdoboz 160">
            <a:extLst>
              <a:ext uri="{FF2B5EF4-FFF2-40B4-BE49-F238E27FC236}">
                <a16:creationId xmlns:a16="http://schemas.microsoft.com/office/drawing/2014/main" id="{5FC06CD7-CF11-013A-1D84-DE5FE34C07DF}"/>
              </a:ext>
            </a:extLst>
          </p:cNvPr>
          <p:cNvSpPr txBox="1"/>
          <p:nvPr/>
        </p:nvSpPr>
        <p:spPr>
          <a:xfrm>
            <a:off x="8387691" y="4792649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2 / 15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541"/>
    </mc:Choice>
    <mc:Fallback>
      <p:transition spd="slow" advTm="58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53" grpId="0"/>
      <p:bldP spid="156" grpId="0"/>
      <p:bldP spid="1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32774E4-F3B6-D32C-CAD0-771DA47D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>
            <a:extLst>
              <a:ext uri="{FF2B5EF4-FFF2-40B4-BE49-F238E27FC236}">
                <a16:creationId xmlns:a16="http://schemas.microsoft.com/office/drawing/2014/main" id="{D073A008-4E2C-0ECE-5242-72B4ED3E7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egoe UI Variable Display Semib" pitchFamily="2" charset="0"/>
                <a:ea typeface="Syne SemiBold"/>
                <a:cs typeface="Syne SemiBold"/>
                <a:sym typeface="Syne SemiBold"/>
              </a:rPr>
              <a:t>Célkitűzés</a:t>
            </a:r>
            <a:endParaRPr b="0" dirty="0">
              <a:latin typeface="Segoe UI Variable Display Semib" pitchFamily="2" charset="0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" name="Google Shape;130;p28">
            <a:extLst>
              <a:ext uri="{FF2B5EF4-FFF2-40B4-BE49-F238E27FC236}">
                <a16:creationId xmlns:a16="http://schemas.microsoft.com/office/drawing/2014/main" id="{501183B2-FEA0-6EF3-B54E-5ACE7BA4DDC2}"/>
              </a:ext>
            </a:extLst>
          </p:cNvPr>
          <p:cNvCxnSpPr/>
          <p:nvPr/>
        </p:nvCxnSpPr>
        <p:spPr>
          <a:xfrm>
            <a:off x="0" y="491796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zövegdoboz 2">
            <a:extLst>
              <a:ext uri="{FF2B5EF4-FFF2-40B4-BE49-F238E27FC236}">
                <a16:creationId xmlns:a16="http://schemas.microsoft.com/office/drawing/2014/main" id="{E7C7A3C7-BB51-0C37-8AB0-0C6FCEC4ED02}"/>
              </a:ext>
            </a:extLst>
          </p:cNvPr>
          <p:cNvSpPr txBox="1"/>
          <p:nvPr/>
        </p:nvSpPr>
        <p:spPr>
          <a:xfrm>
            <a:off x="3893127" y="101772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Beteg és orvos közötti kapcsolat egyszerűsítése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B162144-5FD1-B5E1-5BDD-64D1C500CA53}"/>
              </a:ext>
            </a:extLst>
          </p:cNvPr>
          <p:cNvSpPr txBox="1"/>
          <p:nvPr/>
        </p:nvSpPr>
        <p:spPr>
          <a:xfrm>
            <a:off x="3893127" y="181458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Időpontfoglalási rendszer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5F8E0BF-AA2A-DF76-8520-CEF87123490F}"/>
              </a:ext>
            </a:extLst>
          </p:cNvPr>
          <p:cNvSpPr txBox="1"/>
          <p:nvPr/>
        </p:nvSpPr>
        <p:spPr>
          <a:xfrm>
            <a:off x="3893127" y="2454022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Az adatok központi adatbázisban való </a:t>
            </a:r>
            <a:r>
              <a:rPr lang="hu-HU" sz="1800" dirty="0" err="1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tárolasa</a:t>
            </a:r>
            <a:endParaRPr lang="hu-HU" sz="1800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BFE4F6A-9792-7674-3886-C72CF91FB7B1}"/>
              </a:ext>
            </a:extLst>
          </p:cNvPr>
          <p:cNvSpPr txBox="1"/>
          <p:nvPr/>
        </p:nvSpPr>
        <p:spPr>
          <a:xfrm>
            <a:off x="3893127" y="322777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Platform függetlenség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220DF19-E2E0-8F03-249D-9D791222E3B7}"/>
              </a:ext>
            </a:extLst>
          </p:cNvPr>
          <p:cNvSpPr txBox="1"/>
          <p:nvPr/>
        </p:nvSpPr>
        <p:spPr>
          <a:xfrm>
            <a:off x="3893127" y="38584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személyes adatok megfelelő védelme</a:t>
            </a:r>
          </a:p>
        </p:txBody>
      </p:sp>
      <p:pic>
        <p:nvPicPr>
          <p:cNvPr id="11" name="Kép 10" descr="A képen kék, sor, Acélkék, szimbólu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B685C8E-DC01-3B6D-7F9F-DFB5CCF33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43" y="3117452"/>
            <a:ext cx="548277" cy="548277"/>
          </a:xfrm>
          <a:prstGeom prst="rect">
            <a:avLst/>
          </a:prstGeom>
        </p:spPr>
      </p:pic>
      <p:pic>
        <p:nvPicPr>
          <p:cNvPr id="15" name="Kép 14" descr="A képen clipart, rajzfilm, hangulatjel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AAF118E-99FD-026D-94F2-418E66FA8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5218" y="2801974"/>
            <a:ext cx="1627909" cy="1220932"/>
          </a:xfrm>
          <a:prstGeom prst="rect">
            <a:avLst/>
          </a:prstGeom>
        </p:spPr>
      </p:pic>
      <p:pic>
        <p:nvPicPr>
          <p:cNvPr id="17" name="Kép 16" descr="A képen személy, fedett pályás, irodaszerek, Ujj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7C1D2FB-8EC8-A89C-3C15-DC18675E8D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65533" y="1077440"/>
            <a:ext cx="2438400" cy="16268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AD4E7293-B7B1-D234-EB4C-4C81F7C0994B}"/>
              </a:ext>
            </a:extLst>
          </p:cNvPr>
          <p:cNvSpPr txBox="1"/>
          <p:nvPr/>
        </p:nvSpPr>
        <p:spPr>
          <a:xfrm>
            <a:off x="8424000" y="476407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3 / 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2588D-54F7-E800-FF7A-7DC3B14AAA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473" y="2838064"/>
            <a:ext cx="992723" cy="9927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805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375"/>
    </mc:Choice>
    <mc:Fallback>
      <p:transition spd="slow" advTm="50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55E2643-1FBD-1647-DEAE-352FC41A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>
            <a:extLst>
              <a:ext uri="{FF2B5EF4-FFF2-40B4-BE49-F238E27FC236}">
                <a16:creationId xmlns:a16="http://schemas.microsoft.com/office/drawing/2014/main" id="{771857FF-A70B-8800-ED47-E14D3D7F4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218" y="196895"/>
            <a:ext cx="80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yne SemiBold"/>
                <a:ea typeface="Syne SemiBold"/>
                <a:cs typeface="Syne SemiBold"/>
                <a:sym typeface="Syne SemiBold"/>
              </a:rPr>
              <a:t>Az </a:t>
            </a:r>
            <a:r>
              <a:rPr lang="hu-HU" b="0" dirty="0">
                <a:latin typeface="Segoe UI Variable Display Semib" pitchFamily="2" charset="0"/>
                <a:ea typeface="Syne SemiBold"/>
                <a:cs typeface="Syne SemiBold"/>
                <a:sym typeface="Syne SemiBold"/>
              </a:rPr>
              <a:t>alkalmazás</a:t>
            </a:r>
            <a:r>
              <a:rPr lang="hu-HU" b="0" dirty="0">
                <a:latin typeface="Syne SemiBold"/>
                <a:ea typeface="Syne SemiBold"/>
                <a:cs typeface="Syne SemiBold"/>
                <a:sym typeface="Syne SemiBold"/>
              </a:rPr>
              <a:t> funkciói</a:t>
            </a:r>
            <a:endParaRPr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B7D22A67-DD41-F8B2-724D-C68F930DD22F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82283AB-9045-FC5D-CCF3-CE67F2FB5104}"/>
              </a:ext>
            </a:extLst>
          </p:cNvPr>
          <p:cNvSpPr txBox="1"/>
          <p:nvPr/>
        </p:nvSpPr>
        <p:spPr>
          <a:xfrm>
            <a:off x="699217" y="1007557"/>
            <a:ext cx="403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Az orvosok és páciensek közötti kommunikáció fenttartása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7866597-B927-C042-FE5E-064EF33BF66A}"/>
              </a:ext>
            </a:extLst>
          </p:cNvPr>
          <p:cNvSpPr txBox="1"/>
          <p:nvPr/>
        </p:nvSpPr>
        <p:spPr>
          <a:xfrm>
            <a:off x="699217" y="1888603"/>
            <a:ext cx="432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páciensek / betegek tudjanak kérni időpontot a kezelőorvosuktól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64FD5FF-016D-57FA-2E28-36FA9A0548D2}"/>
              </a:ext>
            </a:extLst>
          </p:cNvPr>
          <p:cNvSpPr txBox="1"/>
          <p:nvPr/>
        </p:nvSpPr>
        <p:spPr>
          <a:xfrm>
            <a:off x="699217" y="2820021"/>
            <a:ext cx="432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pácienseknek felírt gyógyszerek nyilvántartása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4691D77-E7DF-6BDE-380B-0AABA8628198}"/>
              </a:ext>
            </a:extLst>
          </p:cNvPr>
          <p:cNvSpPr txBox="1"/>
          <p:nvPr/>
        </p:nvSpPr>
        <p:spPr>
          <a:xfrm>
            <a:off x="699217" y="3751439"/>
            <a:ext cx="432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Autentikáció, Autorizáció és adat titkosítás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FF910DB-064A-8555-4110-856A9B49D773}"/>
              </a:ext>
            </a:extLst>
          </p:cNvPr>
          <p:cNvSpPr txBox="1"/>
          <p:nvPr/>
        </p:nvSpPr>
        <p:spPr>
          <a:xfrm>
            <a:off x="4814018" y="1003732"/>
            <a:ext cx="4329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Az alkalmazás legyen használható, függetlenül a felhasználó eszközétől (Általános felhaszálói készülékek)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002F09-C430-C6F0-F29B-5266A43A3733}"/>
              </a:ext>
            </a:extLst>
          </p:cNvPr>
          <p:cNvSpPr txBox="1"/>
          <p:nvPr/>
        </p:nvSpPr>
        <p:spPr>
          <a:xfrm>
            <a:off x="8426266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4 / 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410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409"/>
    </mc:Choice>
    <mc:Fallback>
      <p:transition spd="slow" advTm="624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A62E8781-1F62-4266-34C9-86D0BED2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>
            <a:extLst>
              <a:ext uri="{FF2B5EF4-FFF2-40B4-BE49-F238E27FC236}">
                <a16:creationId xmlns:a16="http://schemas.microsoft.com/office/drawing/2014/main" id="{CB36F183-EC44-9C02-0A64-28F863825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egoe UI Variable Display Semib" pitchFamily="2" charset="0"/>
                <a:ea typeface="Syne SemiBold"/>
                <a:cs typeface="Syne SemiBold"/>
                <a:sym typeface="Syne SemiBold"/>
              </a:rPr>
              <a:t>Felhasznált</a:t>
            </a:r>
            <a:r>
              <a:rPr lang="hu-HU" b="0" dirty="0">
                <a:latin typeface="Syne SemiBold"/>
                <a:ea typeface="Syne SemiBold"/>
                <a:cs typeface="Syne SemiBold"/>
                <a:sym typeface="Syne SemiBold"/>
              </a:rPr>
              <a:t> technológiák: Back-End</a:t>
            </a:r>
            <a:endParaRPr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54A938F0-BF99-B9D0-3311-78B926E896BD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014C9A17-6B08-75ED-2C52-0E881AF864C0}"/>
              </a:ext>
            </a:extLst>
          </p:cNvPr>
          <p:cNvSpPr txBox="1"/>
          <p:nvPr/>
        </p:nvSpPr>
        <p:spPr>
          <a:xfrm>
            <a:off x="4122750" y="1756219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MSSQL adatbázis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0FAB4F3-1ED1-4FDB-80A9-79ABC7A2EDF8}"/>
              </a:ext>
            </a:extLst>
          </p:cNvPr>
          <p:cNvSpPr txBox="1"/>
          <p:nvPr/>
        </p:nvSpPr>
        <p:spPr>
          <a:xfrm>
            <a:off x="4122750" y="237822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ASP.NET / .NET 8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3B13302-4BC6-2787-17C9-7B36CC13A799}"/>
              </a:ext>
            </a:extLst>
          </p:cNvPr>
          <p:cNvSpPr txBox="1"/>
          <p:nvPr/>
        </p:nvSpPr>
        <p:spPr>
          <a:xfrm>
            <a:off x="4081186" y="3769159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JWT token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55AD8F3-50DC-FB74-9B5D-42A15454B342}"/>
              </a:ext>
            </a:extLst>
          </p:cNvPr>
          <p:cNvSpPr txBox="1"/>
          <p:nvPr/>
        </p:nvSpPr>
        <p:spPr>
          <a:xfrm>
            <a:off x="4081186" y="2935247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ASP.NET </a:t>
            </a:r>
            <a:r>
              <a:rPr lang="hu-HU" sz="1800" dirty="0" err="1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Authentication</a:t>
            </a: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&amp; Authorization</a:t>
            </a:r>
          </a:p>
        </p:txBody>
      </p:sp>
      <p:pic>
        <p:nvPicPr>
          <p:cNvPr id="10" name="Kép 9" descr="A képen Grafika, képernyőkép, kör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12BBDEA-4FD8-6B89-404D-8D6444BAF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359" y="1098582"/>
            <a:ext cx="1026969" cy="1026969"/>
          </a:xfrm>
          <a:prstGeom prst="rect">
            <a:avLst/>
          </a:prstGeom>
        </p:spPr>
      </p:pic>
      <p:pic>
        <p:nvPicPr>
          <p:cNvPr id="12" name="Kép 11" descr="A képen Grafika, embléma, Grafikus tervezés, Acélkék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ADC3C6-8552-5F59-8250-230974897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50" y="2468309"/>
            <a:ext cx="1863437" cy="819136"/>
          </a:xfrm>
          <a:prstGeom prst="rect">
            <a:avLst/>
          </a:prstGeom>
        </p:spPr>
      </p:pic>
      <p:pic>
        <p:nvPicPr>
          <p:cNvPr id="14" name="Ábra 13">
            <a:extLst>
              <a:ext uri="{FF2B5EF4-FFF2-40B4-BE49-F238E27FC236}">
                <a16:creationId xmlns:a16="http://schemas.microsoft.com/office/drawing/2014/main" id="{57E7068E-BBFD-D1C7-4FA6-781F489D3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8359" y="3630203"/>
            <a:ext cx="1016577" cy="1016577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FE03A32-DDC9-BF78-2630-AF4FD282890A}"/>
              </a:ext>
            </a:extLst>
          </p:cNvPr>
          <p:cNvSpPr txBox="1"/>
          <p:nvPr/>
        </p:nvSpPr>
        <p:spPr>
          <a:xfrm>
            <a:off x="8424000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5 / 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1977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132"/>
    </mc:Choice>
    <mc:Fallback>
      <p:transition spd="slow" advTm="36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4A6F7DCF-E47B-60FC-11FD-2D033817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>
            <a:extLst>
              <a:ext uri="{FF2B5EF4-FFF2-40B4-BE49-F238E27FC236}">
                <a16:creationId xmlns:a16="http://schemas.microsoft.com/office/drawing/2014/main" id="{F85EDE92-CEFD-4155-ADC2-3D3BFA9B3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218" y="196895"/>
            <a:ext cx="80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egoe UI Variable Display Semib" pitchFamily="2" charset="0"/>
                <a:ea typeface="Syne SemiBold"/>
                <a:cs typeface="Syne SemiBold"/>
                <a:sym typeface="Syne SemiBold"/>
              </a:rPr>
              <a:t>Felhasznált</a:t>
            </a:r>
            <a:r>
              <a:rPr lang="hu-HU" b="0" dirty="0">
                <a:latin typeface="Syne SemiBold"/>
                <a:ea typeface="Syne SemiBold"/>
                <a:cs typeface="Syne SemiBold"/>
                <a:sym typeface="Syne SemiBold"/>
              </a:rPr>
              <a:t> technológiák: Front-end &amp; fejlesztői környezet</a:t>
            </a:r>
            <a:endParaRPr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838C2FDB-D863-96E9-9A6A-604260E5FC18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B49F2B7-6D30-9199-FB1C-65E05BD90012}"/>
              </a:ext>
            </a:extLst>
          </p:cNvPr>
          <p:cNvSpPr txBox="1"/>
          <p:nvPr/>
        </p:nvSpPr>
        <p:spPr>
          <a:xfrm>
            <a:off x="4572000" y="160193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.NET MAUI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5F36FD6F-DC82-802E-F9F4-68547ECEE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726" y="1204960"/>
            <a:ext cx="2431473" cy="1366790"/>
          </a:xfrm>
          <a:prstGeom prst="rect">
            <a:avLst/>
          </a:prstGeom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DC89DA9E-7A89-7293-4976-3D3D73F804FE}"/>
              </a:ext>
            </a:extLst>
          </p:cNvPr>
          <p:cNvSpPr txBox="1"/>
          <p:nvPr/>
        </p:nvSpPr>
        <p:spPr>
          <a:xfrm>
            <a:off x="4572000" y="224519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Visual </a:t>
            </a:r>
            <a:r>
              <a:rPr lang="hu-HU" sz="1800" dirty="0" err="1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Studio</a:t>
            </a:r>
            <a:endParaRPr lang="hu-HU" sz="1800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F5F0A68-D8D3-22E5-3491-9DB5109C4B27}"/>
              </a:ext>
            </a:extLst>
          </p:cNvPr>
          <p:cNvSpPr txBox="1"/>
          <p:nvPr/>
        </p:nvSpPr>
        <p:spPr>
          <a:xfrm>
            <a:off x="4572000" y="288846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GitHub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347EA5DC-B5A7-AD0A-4E2C-AFE347F819D7}"/>
              </a:ext>
            </a:extLst>
          </p:cNvPr>
          <p:cNvSpPr txBox="1"/>
          <p:nvPr/>
        </p:nvSpPr>
        <p:spPr>
          <a:xfrm>
            <a:off x="4572000" y="3574511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 err="1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Swagger</a:t>
            </a:r>
            <a:endParaRPr lang="hu-HU" sz="1800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7" name="Kép 26" descr="A képen fekete, sötétsé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5EBD4C3-9ABC-BAFD-E0E6-6994039FE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344" y="2458403"/>
            <a:ext cx="2168236" cy="2168236"/>
          </a:xfrm>
          <a:prstGeom prst="rect">
            <a:avLst/>
          </a:prstGeom>
        </p:spPr>
      </p:pic>
      <p:sp>
        <p:nvSpPr>
          <p:cNvPr id="28" name="Szövegdoboz 27">
            <a:extLst>
              <a:ext uri="{FF2B5EF4-FFF2-40B4-BE49-F238E27FC236}">
                <a16:creationId xmlns:a16="http://schemas.microsoft.com/office/drawing/2014/main" id="{D38BB0B3-4791-B5AF-F5E2-D9B41F853C4E}"/>
              </a:ext>
            </a:extLst>
          </p:cNvPr>
          <p:cNvSpPr txBox="1"/>
          <p:nvPr/>
        </p:nvSpPr>
        <p:spPr>
          <a:xfrm>
            <a:off x="8426266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6 / 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344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106"/>
    </mc:Choice>
    <mc:Fallback>
      <p:transition spd="slow" advTm="181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3744F02-DE14-697B-5994-59579479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D9CAC53F-C9B9-AC5D-199F-05F645518487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A557AD8-1303-3B33-E747-F4DEBDC2A5E7}"/>
              </a:ext>
            </a:extLst>
          </p:cNvPr>
          <p:cNvSpPr txBox="1"/>
          <p:nvPr/>
        </p:nvSpPr>
        <p:spPr>
          <a:xfrm>
            <a:off x="8426266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7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959AE-9338-8338-29C2-61D07F80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Bejelentkezés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B9C24-A829-946F-8CBA-C4E77F299F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84"/>
          <a:stretch>
            <a:fillRect/>
          </a:stretch>
        </p:blipFill>
        <p:spPr>
          <a:xfrm>
            <a:off x="720000" y="1017724"/>
            <a:ext cx="7085472" cy="37749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7035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89"/>
    </mc:Choice>
    <mc:Fallback>
      <p:transition spd="slow" advTm="71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9ABA6BE5-97B5-EFAB-3FE8-1EB56811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BDD72E58-A536-9D64-C479-9A3680028FE6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557B0EE-5815-4FC8-D243-927DBEE1E98C}"/>
              </a:ext>
            </a:extLst>
          </p:cNvPr>
          <p:cNvSpPr txBox="1"/>
          <p:nvPr/>
        </p:nvSpPr>
        <p:spPr>
          <a:xfrm>
            <a:off x="8426266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8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1D627-0DC9-E695-66AA-82829C01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Főoldal</a:t>
            </a:r>
            <a:r>
              <a:rPr lang="hu-HU" dirty="0"/>
              <a:t> (Kezelőorvos)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5D472-6377-8A50-C1E4-2A3C3A0CA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076518"/>
            <a:ext cx="6913855" cy="37161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379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80"/>
    </mc:Choice>
    <mc:Fallback>
      <p:transition spd="slow" advTm="11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A3C719B2-2329-806A-1452-F5CBB48A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A1CBECF5-F62A-ADA2-BDF9-1739A336AF89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3A104C68-D3E0-5346-10DE-4838DD764FD3}"/>
              </a:ext>
            </a:extLst>
          </p:cNvPr>
          <p:cNvSpPr txBox="1"/>
          <p:nvPr/>
        </p:nvSpPr>
        <p:spPr>
          <a:xfrm>
            <a:off x="8426266" y="4792715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9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F55B6-755B-FE4E-082B-00720142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Adminisztrátori</a:t>
            </a:r>
            <a:r>
              <a:rPr lang="hu-HU" dirty="0"/>
              <a:t> Oldal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0B94F-E356-6661-5899-2EF9705C7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017725"/>
            <a:ext cx="6847891" cy="36807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9142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28"/>
    </mc:Choice>
    <mc:Fallback>
      <p:transition spd="slow" advTm="7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2D698FA-56CD-9252-436F-DE99FFBA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7F2C5FC2-C500-4C7C-9154-D123898E0356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6088E3BB-1006-980E-A74A-325B51ABCE56}"/>
              </a:ext>
            </a:extLst>
          </p:cNvPr>
          <p:cNvSpPr txBox="1"/>
          <p:nvPr/>
        </p:nvSpPr>
        <p:spPr>
          <a:xfrm>
            <a:off x="8426266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10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E639D-9857-DBC7-8B5D-964D0A15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Napirend</a:t>
            </a:r>
            <a:r>
              <a:rPr lang="hu-HU" dirty="0"/>
              <a:t> Szerkesztő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9477B6-8B29-39DF-C17E-714434444C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32"/>
          <a:stretch>
            <a:fillRect/>
          </a:stretch>
        </p:blipFill>
        <p:spPr>
          <a:xfrm>
            <a:off x="720000" y="975204"/>
            <a:ext cx="7039430" cy="38175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3475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45"/>
    </mc:Choice>
    <mc:Fallback>
      <p:transition spd="slow" advTm="15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D7ADED8A-B884-8ADC-B9D8-90786EC4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39CD3C66-FF3A-EA6D-C08F-60452B0A507A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070EE9C-42A7-BCFE-7B4E-B5691A7203AB}"/>
              </a:ext>
            </a:extLst>
          </p:cNvPr>
          <p:cNvSpPr txBox="1"/>
          <p:nvPr/>
        </p:nvSpPr>
        <p:spPr>
          <a:xfrm>
            <a:off x="8426266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11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F6C39-6D4A-957E-5FBB-7BA2DB06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728" y="36914"/>
            <a:ext cx="7704000" cy="572700"/>
          </a:xfrm>
        </p:spPr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Páciens</a:t>
            </a:r>
            <a:r>
              <a:rPr lang="hu-HU" dirty="0"/>
              <a:t> Demo</a:t>
            </a:r>
          </a:p>
        </p:txBody>
      </p:sp>
      <p:pic>
        <p:nvPicPr>
          <p:cNvPr id="4" name="MediLink_demo_paciens">
            <a:hlinkClick r:id="" action="ppaction://media"/>
            <a:extLst>
              <a:ext uri="{FF2B5EF4-FFF2-40B4-BE49-F238E27FC236}">
                <a16:creationId xmlns:a16="http://schemas.microsoft.com/office/drawing/2014/main" id="{A18C5A69-DCC5-E28E-8261-E6AF9F46692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5810" y="465027"/>
            <a:ext cx="8153836" cy="43826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5399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62"/>
    </mc:Choice>
    <mc:Fallback>
      <p:transition spd="slow" advTm="51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8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894" objId="4"/>
        <p14:stopEvt time="111811" objId="4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D7ADED8A-B884-8ADC-B9D8-90786EC4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39CD3C66-FF3A-EA6D-C08F-60452B0A507A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070EE9C-42A7-BCFE-7B4E-B5691A7203AB}"/>
              </a:ext>
            </a:extLst>
          </p:cNvPr>
          <p:cNvSpPr txBox="1"/>
          <p:nvPr/>
        </p:nvSpPr>
        <p:spPr>
          <a:xfrm>
            <a:off x="8426266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12 / 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F6C39-6D4A-957E-5FBB-7BA2DB06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728" y="36914"/>
            <a:ext cx="7704000" cy="572700"/>
          </a:xfrm>
        </p:spPr>
        <p:txBody>
          <a:bodyPr/>
          <a:lstStyle/>
          <a:p>
            <a:r>
              <a:rPr lang="hu-HU" dirty="0">
                <a:latin typeface="Segoe UI Variable Display Semib" pitchFamily="2" charset="0"/>
              </a:rPr>
              <a:t>Kezelőorvos</a:t>
            </a:r>
            <a:r>
              <a:rPr lang="hu-HU" dirty="0"/>
              <a:t> Demo</a:t>
            </a:r>
          </a:p>
        </p:txBody>
      </p:sp>
      <p:pic>
        <p:nvPicPr>
          <p:cNvPr id="3" name="MediLink_demo_orvos">
            <a:hlinkClick r:id="" action="ppaction://media"/>
            <a:extLst>
              <a:ext uri="{FF2B5EF4-FFF2-40B4-BE49-F238E27FC236}">
                <a16:creationId xmlns:a16="http://schemas.microsoft.com/office/drawing/2014/main" id="{2FF9CEAF-77C0-A31A-25FE-B10D05B8EDF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0728" y="492689"/>
            <a:ext cx="7812545" cy="43945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805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745"/>
    </mc:Choice>
    <mc:Fallback>
      <p:transition spd="slow" advTm="1037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70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5258" objId="3"/>
        <p14:stopEvt time="97038" objId="3"/>
        <p14:playEvt time="101668" objId="3"/>
        <p14:stopEvt time="103745" objId="3"/>
      </p14:showEvt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86BC-B060-B4DA-3A79-58278BB3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7FBC-74AE-7B98-348A-2A988A08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Lehetséges továbfejlesztés</a:t>
            </a:r>
          </a:p>
        </p:txBody>
      </p:sp>
      <p:sp>
        <p:nvSpPr>
          <p:cNvPr id="4" name="Szövegdoboz 14">
            <a:extLst>
              <a:ext uri="{FF2B5EF4-FFF2-40B4-BE49-F238E27FC236}">
                <a16:creationId xmlns:a16="http://schemas.microsoft.com/office/drawing/2014/main" id="{4A98C80F-A401-AAC9-937C-DD8869493E46}"/>
              </a:ext>
            </a:extLst>
          </p:cNvPr>
          <p:cNvSpPr txBox="1"/>
          <p:nvPr/>
        </p:nvSpPr>
        <p:spPr>
          <a:xfrm>
            <a:off x="720000" y="128327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Több kereső / szűrö lehetőség</a:t>
            </a:r>
          </a:p>
        </p:txBody>
      </p:sp>
      <p:cxnSp>
        <p:nvCxnSpPr>
          <p:cNvPr id="3" name="Google Shape;130;p28">
            <a:extLst>
              <a:ext uri="{FF2B5EF4-FFF2-40B4-BE49-F238E27FC236}">
                <a16:creationId xmlns:a16="http://schemas.microsoft.com/office/drawing/2014/main" id="{64D9ECC3-56CE-0E5C-2A57-523F9A9740F3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zövegdoboz 17">
            <a:extLst>
              <a:ext uri="{FF2B5EF4-FFF2-40B4-BE49-F238E27FC236}">
                <a16:creationId xmlns:a16="http://schemas.microsoft.com/office/drawing/2014/main" id="{16B25D17-055B-FE6E-C75E-CEF00C9FEBDA}"/>
              </a:ext>
            </a:extLst>
          </p:cNvPr>
          <p:cNvSpPr txBox="1"/>
          <p:nvPr/>
        </p:nvSpPr>
        <p:spPr>
          <a:xfrm>
            <a:off x="8426266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13 / 15</a:t>
            </a:r>
          </a:p>
        </p:txBody>
      </p:sp>
      <p:sp>
        <p:nvSpPr>
          <p:cNvPr id="10" name="Szövegdoboz 14">
            <a:extLst>
              <a:ext uri="{FF2B5EF4-FFF2-40B4-BE49-F238E27FC236}">
                <a16:creationId xmlns:a16="http://schemas.microsoft.com/office/drawing/2014/main" id="{64C48F9C-75C8-CEAA-27EC-374A0E71E390}"/>
              </a:ext>
            </a:extLst>
          </p:cNvPr>
          <p:cNvSpPr txBox="1"/>
          <p:nvPr/>
        </p:nvSpPr>
        <p:spPr>
          <a:xfrm>
            <a:off x="719998" y="1769112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Optimális időpont javaslásaidőpontokra a kezelőorvosoknak</a:t>
            </a:r>
          </a:p>
        </p:txBody>
      </p:sp>
      <p:sp>
        <p:nvSpPr>
          <p:cNvPr id="12" name="Szövegdoboz 14">
            <a:extLst>
              <a:ext uri="{FF2B5EF4-FFF2-40B4-BE49-F238E27FC236}">
                <a16:creationId xmlns:a16="http://schemas.microsoft.com/office/drawing/2014/main" id="{40D23BCB-5577-4D25-DA2B-F5875FDBCD31}"/>
              </a:ext>
            </a:extLst>
          </p:cNvPr>
          <p:cNvSpPr txBox="1"/>
          <p:nvPr/>
        </p:nvSpPr>
        <p:spPr>
          <a:xfrm>
            <a:off x="719998" y="2254945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Intézmény kereső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7238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933"/>
    </mc:Choice>
    <mc:Fallback>
      <p:transition spd="slow" advTm="51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3FEE-D598-C21C-2373-8FDE2FA1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Összefoglalás</a:t>
            </a:r>
          </a:p>
        </p:txBody>
      </p:sp>
      <p:sp>
        <p:nvSpPr>
          <p:cNvPr id="4" name="Szövegdoboz 14">
            <a:extLst>
              <a:ext uri="{FF2B5EF4-FFF2-40B4-BE49-F238E27FC236}">
                <a16:creationId xmlns:a16="http://schemas.microsoft.com/office/drawing/2014/main" id="{F6F7F516-27BD-CC22-FEBB-93E16BF42FD1}"/>
              </a:ext>
            </a:extLst>
          </p:cNvPr>
          <p:cNvSpPr txBox="1"/>
          <p:nvPr/>
        </p:nvSpPr>
        <p:spPr>
          <a:xfrm>
            <a:off x="720000" y="128327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Az ipari szabváynokank megfelelően megtervezett szoftver</a:t>
            </a:r>
          </a:p>
        </p:txBody>
      </p:sp>
      <p:sp>
        <p:nvSpPr>
          <p:cNvPr id="5" name="Szövegdoboz 14">
            <a:extLst>
              <a:ext uri="{FF2B5EF4-FFF2-40B4-BE49-F238E27FC236}">
                <a16:creationId xmlns:a16="http://schemas.microsoft.com/office/drawing/2014/main" id="{8F783C9F-AD36-8BE9-2C2B-2F94F62839AF}"/>
              </a:ext>
            </a:extLst>
          </p:cNvPr>
          <p:cNvSpPr txBox="1"/>
          <p:nvPr/>
        </p:nvSpPr>
        <p:spPr>
          <a:xfrm>
            <a:off x="719999" y="173349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Skálázható</a:t>
            </a:r>
          </a:p>
        </p:txBody>
      </p:sp>
      <p:sp>
        <p:nvSpPr>
          <p:cNvPr id="6" name="Szövegdoboz 14">
            <a:extLst>
              <a:ext uri="{FF2B5EF4-FFF2-40B4-BE49-F238E27FC236}">
                <a16:creationId xmlns:a16="http://schemas.microsoft.com/office/drawing/2014/main" id="{C0D03AAC-1140-FF2B-29A9-57459304C266}"/>
              </a:ext>
            </a:extLst>
          </p:cNvPr>
          <p:cNvSpPr txBox="1"/>
          <p:nvPr/>
        </p:nvSpPr>
        <p:spPr>
          <a:xfrm>
            <a:off x="719999" y="218371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Biztonságos (API autentikáció, autorizáció, adat hashelés)</a:t>
            </a:r>
          </a:p>
        </p:txBody>
      </p:sp>
      <p:sp>
        <p:nvSpPr>
          <p:cNvPr id="7" name="Szövegdoboz 14">
            <a:extLst>
              <a:ext uri="{FF2B5EF4-FFF2-40B4-BE49-F238E27FC236}">
                <a16:creationId xmlns:a16="http://schemas.microsoft.com/office/drawing/2014/main" id="{704E6F0F-98C3-E075-0468-2B5D173DBB02}"/>
              </a:ext>
            </a:extLst>
          </p:cNvPr>
          <p:cNvSpPr txBox="1"/>
          <p:nvPr/>
        </p:nvSpPr>
        <p:spPr>
          <a:xfrm>
            <a:off x="719998" y="263393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Modern reszponzív UI</a:t>
            </a:r>
          </a:p>
        </p:txBody>
      </p:sp>
      <p:sp>
        <p:nvSpPr>
          <p:cNvPr id="8" name="Szövegdoboz 14">
            <a:extLst>
              <a:ext uri="{FF2B5EF4-FFF2-40B4-BE49-F238E27FC236}">
                <a16:creationId xmlns:a16="http://schemas.microsoft.com/office/drawing/2014/main" id="{01EB4F64-69E5-8B65-EDEC-4EB6ED013888}"/>
              </a:ext>
            </a:extLst>
          </p:cNvPr>
          <p:cNvSpPr txBox="1"/>
          <p:nvPr/>
        </p:nvSpPr>
        <p:spPr>
          <a:xfrm>
            <a:off x="719997" y="3084159"/>
            <a:ext cx="702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3"/>
              </a:buClr>
              <a:buSzPct val="150000"/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Multiplatrform kliens</a:t>
            </a:r>
          </a:p>
        </p:txBody>
      </p:sp>
      <p:cxnSp>
        <p:nvCxnSpPr>
          <p:cNvPr id="3" name="Google Shape;130;p28">
            <a:extLst>
              <a:ext uri="{FF2B5EF4-FFF2-40B4-BE49-F238E27FC236}">
                <a16:creationId xmlns:a16="http://schemas.microsoft.com/office/drawing/2014/main" id="{CE774F72-228C-C86D-6FC6-51D9BD8655DE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zövegdoboz 17">
            <a:extLst>
              <a:ext uri="{FF2B5EF4-FFF2-40B4-BE49-F238E27FC236}">
                <a16:creationId xmlns:a16="http://schemas.microsoft.com/office/drawing/2014/main" id="{5D880837-235D-4E8A-5AB1-34D17852E372}"/>
              </a:ext>
            </a:extLst>
          </p:cNvPr>
          <p:cNvSpPr txBox="1"/>
          <p:nvPr/>
        </p:nvSpPr>
        <p:spPr>
          <a:xfrm>
            <a:off x="8426266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13 / 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699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116"/>
    </mc:Choice>
    <mc:Fallback>
      <p:transition spd="slow" advTm="66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400182B-DFF4-AF4E-70AF-D52D97C7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>
            <a:extLst>
              <a:ext uri="{FF2B5EF4-FFF2-40B4-BE49-F238E27FC236}">
                <a16:creationId xmlns:a16="http://schemas.microsoft.com/office/drawing/2014/main" id="{7894B0BB-2A38-5041-AB0A-38D5048A5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500" y="2285400"/>
            <a:ext cx="80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0" dirty="0">
                <a:latin typeface="Syne SemiBold"/>
                <a:ea typeface="Syne SemiBold"/>
                <a:cs typeface="Syne SemiBold"/>
                <a:sym typeface="Syne SemiBold"/>
              </a:rPr>
              <a:t>Köszönöm a figyelmet!</a:t>
            </a:r>
            <a:endParaRPr b="0" dirty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60" name="Google Shape;130;p28">
            <a:extLst>
              <a:ext uri="{FF2B5EF4-FFF2-40B4-BE49-F238E27FC236}">
                <a16:creationId xmlns:a16="http://schemas.microsoft.com/office/drawing/2014/main" id="{DEBF4831-1676-C218-710C-3E08878A84AF}"/>
              </a:ext>
            </a:extLst>
          </p:cNvPr>
          <p:cNvCxnSpPr/>
          <p:nvPr/>
        </p:nvCxnSpPr>
        <p:spPr>
          <a:xfrm>
            <a:off x="0" y="4946604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zövegdoboz 2">
            <a:extLst>
              <a:ext uri="{FF2B5EF4-FFF2-40B4-BE49-F238E27FC236}">
                <a16:creationId xmlns:a16="http://schemas.microsoft.com/office/drawing/2014/main" id="{EA78A76C-9228-C28E-FA2C-4784D414FAE3}"/>
              </a:ext>
            </a:extLst>
          </p:cNvPr>
          <p:cNvSpPr txBox="1"/>
          <p:nvPr/>
        </p:nvSpPr>
        <p:spPr>
          <a:xfrm>
            <a:off x="8412710" y="4792715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263897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5"/>
    </mc:Choice>
    <mc:Fallback>
      <p:transition spd="slow" advTm="257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5.4|14.7|7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.8|6.4|13.2|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1.3|6.8|8.3|16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8.1|12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4.8|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4.3|0.9|11.6|0.8|13|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1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16.2|20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4|13.2|13.4|8.9"/>
</p:tagLst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247</Words>
  <Application>Microsoft Office PowerPoint</Application>
  <PresentationFormat>On-screen Show (16:9)</PresentationFormat>
  <Paragraphs>62</Paragraphs>
  <Slides>15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Segoe UI Variable Display Semib</vt:lpstr>
      <vt:lpstr>Arial</vt:lpstr>
      <vt:lpstr>Syne SemiBold</vt:lpstr>
      <vt:lpstr>Sans Serif Collection</vt:lpstr>
      <vt:lpstr>Albert Sans</vt:lpstr>
      <vt:lpstr>Syne</vt:lpstr>
      <vt:lpstr>Tech Startup by Slidesgo</vt:lpstr>
      <vt:lpstr>Járóbeteg páciens kapcsolattartást és ellátást támogató alkalmazás C# nyelven</vt:lpstr>
      <vt:lpstr>Problémafelvetés</vt:lpstr>
      <vt:lpstr>Célkitűzés</vt:lpstr>
      <vt:lpstr>Az alkalmazás funkciói</vt:lpstr>
      <vt:lpstr>Felhasznált technológiák: Back-End</vt:lpstr>
      <vt:lpstr>Felhasznált technológiák: Front-end &amp; fejlesztői környezet</vt:lpstr>
      <vt:lpstr>Bejelentkezés</vt:lpstr>
      <vt:lpstr>Főoldal (Kezelőorvos)</vt:lpstr>
      <vt:lpstr>Adminisztrátori Oldal</vt:lpstr>
      <vt:lpstr>Napirend Szerkesztő</vt:lpstr>
      <vt:lpstr>Páciens Demo</vt:lpstr>
      <vt:lpstr>Kezelőorvos Demo</vt:lpstr>
      <vt:lpstr>Lehetséges továbfejlesztés</vt:lpstr>
      <vt:lpstr>Összefoglalás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Nyirő Teofil</dc:creator>
  <cp:lastModifiedBy>Nyirő Teofil</cp:lastModifiedBy>
  <cp:revision>18</cp:revision>
  <dcterms:modified xsi:type="dcterms:W3CDTF">2026-04-15T10:11:15Z</dcterms:modified>
</cp:coreProperties>
</file>